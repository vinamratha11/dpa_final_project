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mratha Raghavendra Jagirdar" userId="66de7987-115b-43f4-8e63-9d78c99b9b2c" providerId="ADAL" clId="{BDD3F3F5-4E83-47BD-BD27-F94B23968524}"/>
    <pc:docChg chg="modSld">
      <pc:chgData name="Vinamratha Raghavendra Jagirdar" userId="66de7987-115b-43f4-8e63-9d78c99b9b2c" providerId="ADAL" clId="{BDD3F3F5-4E83-47BD-BD27-F94B23968524}" dt="2026-05-03T15:24:30.276" v="30" actId="20577"/>
      <pc:docMkLst>
        <pc:docMk/>
      </pc:docMkLst>
      <pc:sldChg chg="modSp mod">
        <pc:chgData name="Vinamratha Raghavendra Jagirdar" userId="66de7987-115b-43f4-8e63-9d78c99b9b2c" providerId="ADAL" clId="{BDD3F3F5-4E83-47BD-BD27-F94B23968524}" dt="2026-05-03T15:24:30.276" v="30" actId="20577"/>
        <pc:sldMkLst>
          <pc:docMk/>
          <pc:sldMk cId="0" sldId="256"/>
        </pc:sldMkLst>
        <pc:spChg chg="mod">
          <ac:chgData name="Vinamratha Raghavendra Jagirdar" userId="66de7987-115b-43f4-8e63-9d78c99b9b2c" providerId="ADAL" clId="{BDD3F3F5-4E83-47BD-BD27-F94B23968524}" dt="2026-05-03T15:24:30.276" v="30"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16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Vinamratha  -  ~30 sec]</a:t>
            </a:r>
          </a:p>
          <a:p>
            <a:endParaRPr/>
          </a:p>
          <a:p>
            <a:r>
              <a:t>Good morning, everyone. Our project is titled Predicting Diabetes Risk from Population Health Survey Data. We built a reproducible machine-learning pipeline on roughly 230,000 CDC BRFSS respondents, comparing six model families and auditing both fairness across subgroups and clinical screening trade-offs. I am Vinamratha, and joining me today are Urjita, Deepali, and Naman. I will cover the executive summary and our project plan; the team will then walk you through the data, the modeling, and our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Vinamratha  -  ~75 sec]</a:t>
            </a:r>
          </a:p>
          <a:p>
            <a:endParaRPr/>
          </a:p>
          <a:p>
            <a:r>
              <a:t>Here is what we found at a glance. After de-duplication we worked with 229,787 respondents. Our best test AUC was 0.804, achieved by XGBoost. SMOTE gave us a forty-nine-percent relative gain in minority-class sensitivity, and we surfaced an income-based fairness gap of 0.161 in detection sensitivity, which we flagged as a bias concern. The headline, though, is not which model wins. XGBoost narrowly leads, but Logistic Regression nearly matches it at 0.798 while staying interpretable and well-calibrated. The real story is that lowering the decision threshold from 0.5 to 0.3 nearly doubles diabetic-case detection, and that the model under-screens higher-income patients. Our recommended next steps are Platt scaling on the tree models, debiasing by income, and external validation against HbA1c-confirmed clinical records.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Vinamratha  -  ~60 sec]</a:t>
            </a:r>
          </a:p>
          <a:p>
            <a:endParaRPr/>
          </a:p>
          <a:p>
            <a:r>
              <a:t>Quick note on how the work was divided and how we executed. Four graduate students contributed: data engineering, EDA, modeling, and fairness and reporting. The timeline ran ten weeks: scoping and data acquisition, then cleaning and EDA, then preprocessing and SMOTE, then modeling with five-fold cross-validation across six families, and finally fairness, calibration, SHAP, and writeup. Two important changes from the original plan: we added a fairness audit by sex, age, and income after seeing subgroup gaps in early CV results, and we added calibration plots and SHAP attribution to defend our model choice for clinical use. We dropped manual feature engineering because the engineered features gave no AUC lift on tree ensembles. I will hand it over to Urjita to walk through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Urjita  -  ~75 sec]</a:t>
            </a:r>
          </a:p>
          <a:p>
            <a:endParaRPr/>
          </a:p>
          <a:p>
            <a:r>
              <a:t>Thanks, Vinamratha. Our pipeline starts from the UCI BRFSS-2015 release: 253,680 rows by 22 columns. Step one is loading. Step two, cleaning and de-duplication, brings us to 229,787 rows; about nine percent of the original rows were exact duplicates that would have inflated our cross-validation scores. Step three is EDA on class, BMI, age, and the correlation matrix. Step four is an 80/20 stratified split, with centering and scaling fit only on the training partition - this is critical to avoid leakage into the test AUC. Step five is SMOTE, applied only to the training set with k equal to five. Three things are worth highlighting. First, the 83/17 class imbalance: a naive predict-no baseline already scores 83 percent accuracy, so we anchored on AUC and recall instead. Second, there are zero missing values - the survey design enforces complete responses. Third, the strongest correlation we observed was between general health and physical health at about 0.52, well below any multicollinearity threshold, so we kept all 21 raw features.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Urjita  -  ~50 sec]</a:t>
            </a:r>
          </a:p>
          <a:p>
            <a:endParaRPr/>
          </a:p>
          <a:p>
            <a:r>
              <a:t>EDA surfaced three patterns that drove every modeling decision. First, the severe class imbalance I just mentioned - 190,055 no versus 39,657 yes, which motivated SMOTE and AUC as our primary metric. Second, diabetes prevalence rises monotonically with age: under five percent in the 18 to 24 bracket, over twenty-five percent at 70-plus. Age becomes a top-three predictor for the Random Forest. Third, the general-health and physical-health pair is the only correlation worth noting; nothing else exceeds 0.55, so no feature was dropped for redundancy. The clinical pattern is consistent and clean: diabetic respondents are heavier, with a BMI median of 31 versus 27, older, in worse self-rated health, and less physically active. With that, I will hand it over to Deepali for the modeling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Deepali  -  ~75 sec]</a:t>
            </a:r>
          </a:p>
          <a:p>
            <a:endParaRPr/>
          </a:p>
          <a:p>
            <a:r>
              <a:t>Thanks, Urjita. We trained six model families with five-fold cross-validation and AUC as the primary metric. Logistic Regression gives us an interpretable baseline with odds ratios and lands at 0.798. LDA matches it at 0.798 and is well-calibrated. A single Decision Tree, with the complexity parameter tuned over ten values, comes in at 0.722. Random Forest with two hundred trees and mtry swept across three, five, and seven reaches 0.780. XGBoost, tuned over a 216-combination grid, is our top performer at 0.804. KNN shows 0.561, but that figure reflects hard-label predictions rather than probabilities, so it is not directly comparable. The ROC overlay shows XGBoost edging out LDA and Logistic at high sensitivity, with the Decision Tree clearly trailing. From the Logistic odds ratios, the top-five risk factors are general health, BMI, age, high blood pressure, and high cholesterol - in that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Deepali  -  ~60 sec]</a:t>
            </a:r>
          </a:p>
          <a:p>
            <a:endParaRPr/>
          </a:p>
          <a:p>
            <a:r>
              <a:t>Two practical changes mattered far more than the choice of model. First, threshold tuning. At the default 0.5 threshold, Random Forest sensitivity is only 29 percent - we miss seventy-one percent of diabetic respondents, which is unacceptable for screening. Lowering the threshold to 0.3 lifts sensitivity to 57 percent, specificity stays above 0.80, and F1 actually peaks. Our recommendation: deploy at 0.3 in any screening context. Second, SMOTE. Sensitivity goes from 0.196 to 0.289, a forty-nine percent relative gain. F1 improves twenty-five percent, AUC is essentially unchanged, and specificity drops only three points. SMOTE is non-negotiable for any retrain on this kind of imbalanced survey data. Naman will now take you through fairness and final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Naman  -  ~60 sec]</a:t>
            </a:r>
          </a:p>
          <a:p>
            <a:endParaRPr/>
          </a:p>
          <a:p>
            <a:r>
              <a:t>Thanks, Deepali. Once we had a working model, we ran a fairness audit across three subgroups: sex, age, and income. Sex was clean with a sensitivity gap of 0.006. Age was acceptable at 0.080. Income was the problem: a 0.161 sensitivity gap, which we are flagging as bias. Concretely, lower-income diabetic respondents are detected at thirty-seven percent, while higher-income diabetic respondents are detected at only twenty-one percent. Wealthier diabetic individuals are systematically under-screened, likely because they present with less stereotypical risk profiles - lower BMI, better self-rated general health. Our recommendation is adversarial debiasing or per-income reweighting before any deployment, with a hard threshold that the gap must drop below 0.10 before the model goes live.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Naman  -  ~60 sec]</a:t>
            </a:r>
          </a:p>
          <a:p>
            <a:endParaRPr/>
          </a:p>
          <a:p>
            <a:r>
              <a:t>To summarize, six recommendations. One: deploy XGBoost for screening at AUC 0.804 - best risk stratification on routine survey data with no labs required. Two: fall back to Logistic Regression when explanation matters; AUC 0.798 with full odds-ratio interpretability and good calibration. Three: lower the decision threshold to 0.3 to roughly double true-positive detection while keeping specificity above 0.80. Four: apply Platt scaling on the tree models, since raw probabilities are over-confident in the 0.3 to 0.6 mid-range. Five: do a fairness-aware retrain by income to drop the 0.161 gap below 0.10. And six: validate externally on HbA1c records before any clinical adoption, because self-reported BRFSS data alone is not sufficient evidence. Thank you - we are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a:effectLst/>
      </p:bgPr>
    </p:bg>
    <p:spTree>
      <p:nvGrpSpPr>
        <p:cNvPr id="1" name=""/>
        <p:cNvGrpSpPr/>
        <p:nvPr/>
      </p:nvGrpSpPr>
      <p:grpSpPr>
        <a:xfrm>
          <a:off x="0" y="0"/>
          <a:ext cx="0" cy="0"/>
          <a:chOff x="0" y="0"/>
          <a:chExt cx="0" cy="0"/>
        </a:xfrm>
      </p:grpSpPr>
      <p:sp>
        <p:nvSpPr>
          <p:cNvPr id="4" name="Text 2"/>
          <p:cNvSpPr/>
          <p:nvPr/>
        </p:nvSpPr>
        <p:spPr>
          <a:xfrm>
            <a:off x="640080" y="906058"/>
            <a:ext cx="10515600" cy="1737360"/>
          </a:xfrm>
          <a:prstGeom prst="rect">
            <a:avLst/>
          </a:prstGeom>
          <a:noFill/>
          <a:ln/>
        </p:spPr>
        <p:txBody>
          <a:bodyPr wrap="square" lIns="0" tIns="0" rIns="0" bIns="0" rtlCol="0" anchor="ctr"/>
          <a:lstStyle/>
          <a:p>
            <a:pPr marL="0" indent="0" algn="ctr">
              <a:spcAft>
                <a:spcPts val="400"/>
              </a:spcAft>
              <a:buNone/>
            </a:pPr>
            <a:r>
              <a:rPr lang="en-US" sz="4000" b="1" dirty="0">
                <a:solidFill>
                  <a:srgbClr val="FFFFFF"/>
                </a:solidFill>
                <a:latin typeface="Georgia" pitchFamily="34" charset="0"/>
                <a:ea typeface="Georgia" pitchFamily="34" charset="-122"/>
                <a:cs typeface="Georgia" pitchFamily="34" charset="-120"/>
              </a:rPr>
              <a:t>Predicting Diabetes Risk from</a:t>
            </a:r>
            <a:endParaRPr lang="en-US" sz="4000" dirty="0"/>
          </a:p>
          <a:p>
            <a:pPr marL="0" indent="0" algn="ctr">
              <a:spcAft>
                <a:spcPts val="400"/>
              </a:spcAft>
              <a:buNone/>
            </a:pPr>
            <a:r>
              <a:rPr lang="en-US" sz="4000" b="1" dirty="0">
                <a:solidFill>
                  <a:srgbClr val="FFFFFF"/>
                </a:solidFill>
                <a:latin typeface="Georgia" pitchFamily="34" charset="0"/>
                <a:ea typeface="Georgia" pitchFamily="34" charset="-122"/>
                <a:cs typeface="Georgia" pitchFamily="34" charset="-120"/>
              </a:rPr>
              <a:t>Population Health Survey Data</a:t>
            </a:r>
            <a:endParaRPr lang="en-US" sz="4000" dirty="0"/>
          </a:p>
        </p:txBody>
      </p:sp>
      <p:sp>
        <p:nvSpPr>
          <p:cNvPr id="5" name="Text 3"/>
          <p:cNvSpPr/>
          <p:nvPr/>
        </p:nvSpPr>
        <p:spPr>
          <a:xfrm>
            <a:off x="1013059" y="2788920"/>
            <a:ext cx="10515600" cy="1280160"/>
          </a:xfrm>
          <a:prstGeom prst="rect">
            <a:avLst/>
          </a:prstGeom>
          <a:noFill/>
          <a:ln/>
        </p:spPr>
        <p:txBody>
          <a:bodyPr wrap="square" lIns="0" tIns="0" rIns="0" bIns="0" rtlCol="0" anchor="ctr"/>
          <a:lstStyle/>
          <a:p>
            <a:pPr marL="0" indent="0">
              <a:buNone/>
            </a:pPr>
            <a:r>
              <a:rPr lang="en-US" sz="1600" i="1" dirty="0">
                <a:solidFill>
                  <a:srgbClr val="F5F2EC"/>
                </a:solidFill>
                <a:latin typeface="Calibri" pitchFamily="34" charset="0"/>
                <a:ea typeface="Calibri" pitchFamily="34" charset="-122"/>
                <a:cs typeface="Calibri" pitchFamily="34" charset="-120"/>
              </a:rPr>
              <a:t>A reproducible machine-learning pipeline on 229,787 CDC BRFSS respondents - exploring six model families, fairness across subgroups, and clinical-screening trade-offs.</a:t>
            </a:r>
            <a:endParaRPr lang="en-US" sz="1600" dirty="0"/>
          </a:p>
        </p:txBody>
      </p:sp>
      <p:sp>
        <p:nvSpPr>
          <p:cNvPr id="6" name="Shape 4"/>
          <p:cNvSpPr/>
          <p:nvPr/>
        </p:nvSpPr>
        <p:spPr>
          <a:xfrm>
            <a:off x="1013059" y="4332972"/>
            <a:ext cx="10424160" cy="0"/>
          </a:xfrm>
          <a:prstGeom prst="line">
            <a:avLst/>
          </a:prstGeom>
          <a:noFill/>
          <a:ln w="15875">
            <a:solidFill>
              <a:srgbClr val="E2725B"/>
            </a:solidFill>
            <a:prstDash val="solid"/>
          </a:ln>
        </p:spPr>
        <p:txBody>
          <a:bodyPr/>
          <a:lstStyle/>
          <a:p>
            <a:endParaRPr lang="en-US" dirty="0"/>
          </a:p>
        </p:txBody>
      </p:sp>
      <p:sp>
        <p:nvSpPr>
          <p:cNvPr id="7" name="Text 5"/>
          <p:cNvSpPr/>
          <p:nvPr/>
        </p:nvSpPr>
        <p:spPr>
          <a:xfrm>
            <a:off x="4012932" y="4622693"/>
            <a:ext cx="3657600" cy="274320"/>
          </a:xfrm>
          <a:prstGeom prst="rect">
            <a:avLst/>
          </a:prstGeom>
          <a:noFill/>
          <a:ln/>
        </p:spPr>
        <p:txBody>
          <a:bodyPr wrap="square" lIns="0" tIns="0" rIns="0" bIns="0" rtlCol="0" anchor="ctr"/>
          <a:lstStyle/>
          <a:p>
            <a:pPr marL="0" indent="0" algn="ctr">
              <a:buNone/>
            </a:pPr>
            <a:endParaRPr lang="en-US" sz="1000" dirty="0">
              <a:latin typeface="Times New Roman" panose="02020603050405020304" pitchFamily="18" charset="0"/>
              <a:cs typeface="Times New Roman" panose="02020603050405020304" pitchFamily="18" charset="0"/>
            </a:endParaRPr>
          </a:p>
        </p:txBody>
      </p:sp>
      <p:sp>
        <p:nvSpPr>
          <p:cNvPr id="8" name="Text 6"/>
          <p:cNvSpPr/>
          <p:nvPr/>
        </p:nvSpPr>
        <p:spPr>
          <a:xfrm>
            <a:off x="868680" y="4458421"/>
            <a:ext cx="10058400" cy="1353097"/>
          </a:xfrm>
          <a:prstGeom prst="rect">
            <a:avLst/>
          </a:prstGeom>
          <a:noFill/>
          <a:ln/>
        </p:spPr>
        <p:txBody>
          <a:bodyPr wrap="square" lIns="0" tIns="0" rIns="0" bIns="0" rtlCol="0" anchor="ctr"/>
          <a:lstStyle/>
          <a:p>
            <a:pPr marL="0" indent="0" algn="ctr">
              <a:buNone/>
            </a:pPr>
            <a:r>
              <a:rPr lang="en-US" sz="1400" b="1" dirty="0">
                <a:solidFill>
                  <a:schemeClr val="accent2">
                    <a:lumMod val="60000"/>
                    <a:lumOff val="40000"/>
                  </a:schemeClr>
                </a:solidFill>
                <a:latin typeface="Calibri" pitchFamily="34" charset="0"/>
                <a:ea typeface="Calibri" pitchFamily="34" charset="-122"/>
                <a:cs typeface="Calibri" pitchFamily="34" charset="-120"/>
              </a:rPr>
              <a:t>Project Team Members:</a:t>
            </a:r>
            <a:br>
              <a:rPr lang="en-US" sz="1400" dirty="0">
                <a:solidFill>
                  <a:srgbClr val="FFFFFF"/>
                </a:solidFill>
                <a:latin typeface="Calibri" pitchFamily="34" charset="0"/>
                <a:ea typeface="Calibri" pitchFamily="34" charset="-122"/>
                <a:cs typeface="Calibri" pitchFamily="34" charset="-120"/>
              </a:rPr>
            </a:br>
            <a:r>
              <a:rPr lang="en-US" sz="1400" dirty="0">
                <a:solidFill>
                  <a:srgbClr val="FFFFFF"/>
                </a:solidFill>
                <a:latin typeface="Calibri" pitchFamily="34" charset="0"/>
                <a:ea typeface="Calibri" pitchFamily="34" charset="-122"/>
                <a:cs typeface="Calibri" pitchFamily="34" charset="-120"/>
              </a:rPr>
              <a:t>Vinamratha Raghavendra Jagirdar(A20614061)</a:t>
            </a:r>
            <a:br>
              <a:rPr lang="en-US" sz="1400" dirty="0">
                <a:solidFill>
                  <a:srgbClr val="FFFFFF"/>
                </a:solidFill>
                <a:latin typeface="Calibri" pitchFamily="34" charset="0"/>
                <a:ea typeface="Calibri" pitchFamily="34" charset="-122"/>
                <a:cs typeface="Calibri" pitchFamily="34" charset="-120"/>
              </a:rPr>
            </a:br>
            <a:r>
              <a:rPr lang="en-US" sz="1400" dirty="0">
                <a:solidFill>
                  <a:srgbClr val="FFFFFF"/>
                </a:solidFill>
                <a:latin typeface="Calibri" pitchFamily="34" charset="0"/>
                <a:ea typeface="Calibri" pitchFamily="34" charset="-122"/>
                <a:cs typeface="Calibri" pitchFamily="34" charset="-120"/>
              </a:rPr>
              <a:t>Urjita Saxena(A20578349)</a:t>
            </a:r>
            <a:br>
              <a:rPr lang="en-US" sz="1400" dirty="0">
                <a:solidFill>
                  <a:srgbClr val="FFFFFF"/>
                </a:solidFill>
                <a:latin typeface="Calibri" pitchFamily="34" charset="0"/>
                <a:ea typeface="Calibri" pitchFamily="34" charset="-122"/>
                <a:cs typeface="Calibri" pitchFamily="34" charset="-120"/>
              </a:rPr>
            </a:br>
            <a:r>
              <a:rPr lang="en-US" sz="1400" dirty="0">
                <a:solidFill>
                  <a:srgbClr val="FFFFFF"/>
                </a:solidFill>
                <a:latin typeface="Calibri" pitchFamily="34" charset="0"/>
                <a:ea typeface="Calibri" pitchFamily="34" charset="-122"/>
                <a:cs typeface="Calibri" pitchFamily="34" charset="-120"/>
              </a:rPr>
              <a:t>Deepali Budhiraja(A20615733)</a:t>
            </a:r>
            <a:br>
              <a:rPr lang="en-US" sz="1400" dirty="0">
                <a:solidFill>
                  <a:srgbClr val="FFFFFF"/>
                </a:solidFill>
                <a:latin typeface="Calibri" pitchFamily="34" charset="0"/>
                <a:ea typeface="Calibri" pitchFamily="34" charset="-122"/>
                <a:cs typeface="Calibri" pitchFamily="34" charset="-120"/>
              </a:rPr>
            </a:br>
            <a:r>
              <a:rPr lang="en-US" sz="1400" dirty="0">
                <a:solidFill>
                  <a:srgbClr val="FFFFFF"/>
                </a:solidFill>
                <a:latin typeface="Calibri" pitchFamily="34" charset="0"/>
                <a:ea typeface="Calibri" pitchFamily="34" charset="-122"/>
                <a:cs typeface="Calibri" pitchFamily="34" charset="-120"/>
              </a:rPr>
              <a:t>Naman Singh(A20574372)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01  •  EXECUTIVE SUMMARY</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What we set out to do — and what we found</a:t>
            </a:r>
            <a:endParaRPr lang="en-US" sz="3000" dirty="0"/>
          </a:p>
        </p:txBody>
      </p:sp>
      <p:sp>
        <p:nvSpPr>
          <p:cNvPr id="4" name="Shape 2"/>
          <p:cNvSpPr/>
          <p:nvPr/>
        </p:nvSpPr>
        <p:spPr>
          <a:xfrm>
            <a:off x="548640" y="1554480"/>
            <a:ext cx="2606040" cy="1691640"/>
          </a:xfrm>
          <a:prstGeom prst="rect">
            <a:avLst/>
          </a:prstGeom>
          <a:solidFill>
            <a:srgbClr val="F5F2EC"/>
          </a:solidFill>
          <a:ln w="6350">
            <a:solidFill>
              <a:srgbClr val="D9D2C7"/>
            </a:solidFill>
            <a:prstDash val="solid"/>
          </a:ln>
        </p:spPr>
        <p:txBody>
          <a:bodyPr/>
          <a:lstStyle/>
          <a:p>
            <a:endParaRPr lang="en-US" dirty="0"/>
          </a:p>
        </p:txBody>
      </p:sp>
      <p:sp>
        <p:nvSpPr>
          <p:cNvPr id="5" name="Shape 3"/>
          <p:cNvSpPr/>
          <p:nvPr/>
        </p:nvSpPr>
        <p:spPr>
          <a:xfrm>
            <a:off x="548640" y="1554480"/>
            <a:ext cx="2606040" cy="73152"/>
          </a:xfrm>
          <a:prstGeom prst="rect">
            <a:avLst/>
          </a:prstGeom>
          <a:solidFill>
            <a:srgbClr val="0F4C5C"/>
          </a:solidFill>
          <a:ln w="12700">
            <a:solidFill>
              <a:srgbClr val="0F4C5C"/>
            </a:solidFill>
            <a:prstDash val="solid"/>
          </a:ln>
        </p:spPr>
        <p:txBody>
          <a:bodyPr/>
          <a:lstStyle/>
          <a:p>
            <a:endParaRPr lang="en-US" dirty="0"/>
          </a:p>
        </p:txBody>
      </p:sp>
      <p:sp>
        <p:nvSpPr>
          <p:cNvPr id="6" name="Text 4"/>
          <p:cNvSpPr/>
          <p:nvPr/>
        </p:nvSpPr>
        <p:spPr>
          <a:xfrm>
            <a:off x="548640" y="1719072"/>
            <a:ext cx="2606040" cy="777240"/>
          </a:xfrm>
          <a:prstGeom prst="rect">
            <a:avLst/>
          </a:prstGeom>
          <a:noFill/>
          <a:ln/>
        </p:spPr>
        <p:txBody>
          <a:bodyPr wrap="square" lIns="0" tIns="0" rIns="0" bIns="0" rtlCol="0" anchor="ctr"/>
          <a:lstStyle/>
          <a:p>
            <a:pPr marL="0" indent="0" algn="ctr">
              <a:buNone/>
            </a:pPr>
            <a:r>
              <a:rPr lang="en-US" sz="3800" b="1" dirty="0">
                <a:solidFill>
                  <a:srgbClr val="0F4C5C"/>
                </a:solidFill>
                <a:latin typeface="Georgia" pitchFamily="34" charset="0"/>
                <a:ea typeface="Georgia" pitchFamily="34" charset="-122"/>
                <a:cs typeface="Georgia" pitchFamily="34" charset="-120"/>
              </a:rPr>
              <a:t>229,787</a:t>
            </a:r>
            <a:endParaRPr lang="en-US" sz="3800" dirty="0"/>
          </a:p>
        </p:txBody>
      </p:sp>
      <p:sp>
        <p:nvSpPr>
          <p:cNvPr id="7" name="Text 5"/>
          <p:cNvSpPr/>
          <p:nvPr/>
        </p:nvSpPr>
        <p:spPr>
          <a:xfrm>
            <a:off x="640080" y="2514600"/>
            <a:ext cx="2423160" cy="685800"/>
          </a:xfrm>
          <a:prstGeom prst="rect">
            <a:avLst/>
          </a:prstGeom>
          <a:noFill/>
          <a:ln/>
        </p:spPr>
        <p:txBody>
          <a:bodyPr wrap="square" lIns="0" tIns="0" rIns="0" bIns="0" rtlCol="0" anchor="ctr"/>
          <a:lstStyle/>
          <a:p>
            <a:pPr marL="0" indent="0" algn="ctr">
              <a:buNone/>
            </a:pPr>
            <a:r>
              <a:rPr lang="en-US" sz="1100" dirty="0">
                <a:solidFill>
                  <a:srgbClr val="4A5C5E"/>
                </a:solidFill>
                <a:latin typeface="Calibri" pitchFamily="34" charset="0"/>
                <a:ea typeface="Calibri" pitchFamily="34" charset="-122"/>
                <a:cs typeface="Calibri" pitchFamily="34" charset="-120"/>
              </a:rPr>
              <a:t>BRFSS respondents</a:t>
            </a:r>
            <a:endParaRPr lang="en-US" sz="1100" dirty="0"/>
          </a:p>
          <a:p>
            <a:pPr marL="0" indent="0" algn="ctr">
              <a:buNone/>
            </a:pPr>
            <a:r>
              <a:rPr lang="en-US" sz="1100" dirty="0">
                <a:solidFill>
                  <a:srgbClr val="4A5C5E"/>
                </a:solidFill>
                <a:latin typeface="Calibri" pitchFamily="34" charset="0"/>
                <a:ea typeface="Calibri" pitchFamily="34" charset="-122"/>
                <a:cs typeface="Calibri" pitchFamily="34" charset="-120"/>
              </a:rPr>
              <a:t>analyzed (post-dedup)</a:t>
            </a:r>
            <a:endParaRPr lang="en-US" sz="1100" dirty="0"/>
          </a:p>
        </p:txBody>
      </p:sp>
      <p:sp>
        <p:nvSpPr>
          <p:cNvPr id="8" name="Shape 6"/>
          <p:cNvSpPr/>
          <p:nvPr/>
        </p:nvSpPr>
        <p:spPr>
          <a:xfrm>
            <a:off x="3319272" y="1554480"/>
            <a:ext cx="2606040" cy="1691640"/>
          </a:xfrm>
          <a:prstGeom prst="rect">
            <a:avLst/>
          </a:prstGeom>
          <a:solidFill>
            <a:srgbClr val="F5F2EC"/>
          </a:solidFill>
          <a:ln w="6350">
            <a:solidFill>
              <a:srgbClr val="D9D2C7"/>
            </a:solidFill>
            <a:prstDash val="solid"/>
          </a:ln>
        </p:spPr>
        <p:txBody>
          <a:bodyPr/>
          <a:lstStyle/>
          <a:p>
            <a:endParaRPr lang="en-US" dirty="0"/>
          </a:p>
        </p:txBody>
      </p:sp>
      <p:sp>
        <p:nvSpPr>
          <p:cNvPr id="9" name="Shape 7"/>
          <p:cNvSpPr/>
          <p:nvPr/>
        </p:nvSpPr>
        <p:spPr>
          <a:xfrm>
            <a:off x="3319272" y="1554480"/>
            <a:ext cx="2606040" cy="73152"/>
          </a:xfrm>
          <a:prstGeom prst="rect">
            <a:avLst/>
          </a:prstGeom>
          <a:solidFill>
            <a:srgbClr val="14758A"/>
          </a:solidFill>
          <a:ln w="12700">
            <a:solidFill>
              <a:srgbClr val="14758A"/>
            </a:solidFill>
            <a:prstDash val="solid"/>
          </a:ln>
        </p:spPr>
        <p:txBody>
          <a:bodyPr/>
          <a:lstStyle/>
          <a:p>
            <a:endParaRPr lang="en-US" dirty="0"/>
          </a:p>
        </p:txBody>
      </p:sp>
      <p:sp>
        <p:nvSpPr>
          <p:cNvPr id="10" name="Text 8"/>
          <p:cNvSpPr/>
          <p:nvPr/>
        </p:nvSpPr>
        <p:spPr>
          <a:xfrm>
            <a:off x="3319272" y="1719072"/>
            <a:ext cx="2606040" cy="777240"/>
          </a:xfrm>
          <a:prstGeom prst="rect">
            <a:avLst/>
          </a:prstGeom>
          <a:noFill/>
          <a:ln/>
        </p:spPr>
        <p:txBody>
          <a:bodyPr wrap="square" lIns="0" tIns="0" rIns="0" bIns="0" rtlCol="0" anchor="ctr"/>
          <a:lstStyle/>
          <a:p>
            <a:pPr marL="0" indent="0" algn="ctr">
              <a:buNone/>
            </a:pPr>
            <a:r>
              <a:rPr lang="en-US" sz="3800" b="1" dirty="0">
                <a:solidFill>
                  <a:srgbClr val="14758A"/>
                </a:solidFill>
                <a:latin typeface="Georgia" pitchFamily="34" charset="0"/>
                <a:ea typeface="Georgia" pitchFamily="34" charset="-122"/>
                <a:cs typeface="Georgia" pitchFamily="34" charset="-120"/>
              </a:rPr>
              <a:t>0.804</a:t>
            </a:r>
            <a:endParaRPr lang="en-US" sz="3800" dirty="0"/>
          </a:p>
        </p:txBody>
      </p:sp>
      <p:sp>
        <p:nvSpPr>
          <p:cNvPr id="11" name="Text 9"/>
          <p:cNvSpPr/>
          <p:nvPr/>
        </p:nvSpPr>
        <p:spPr>
          <a:xfrm>
            <a:off x="3410712" y="2514600"/>
            <a:ext cx="2423160" cy="685800"/>
          </a:xfrm>
          <a:prstGeom prst="rect">
            <a:avLst/>
          </a:prstGeom>
          <a:noFill/>
          <a:ln/>
        </p:spPr>
        <p:txBody>
          <a:bodyPr wrap="square" lIns="0" tIns="0" rIns="0" bIns="0" rtlCol="0" anchor="ctr"/>
          <a:lstStyle/>
          <a:p>
            <a:pPr marL="0" indent="0" algn="ctr">
              <a:buNone/>
            </a:pPr>
            <a:r>
              <a:rPr lang="en-US" sz="1100" dirty="0">
                <a:solidFill>
                  <a:srgbClr val="4A5C5E"/>
                </a:solidFill>
                <a:latin typeface="Calibri" pitchFamily="34" charset="0"/>
                <a:ea typeface="Calibri" pitchFamily="34" charset="-122"/>
                <a:cs typeface="Calibri" pitchFamily="34" charset="-120"/>
              </a:rPr>
              <a:t>best test AUC</a:t>
            </a:r>
            <a:endParaRPr lang="en-US" sz="1100" dirty="0"/>
          </a:p>
          <a:p>
            <a:pPr marL="0" indent="0" algn="ctr">
              <a:buNone/>
            </a:pPr>
            <a:r>
              <a:rPr lang="en-US" sz="1100" dirty="0">
                <a:solidFill>
                  <a:srgbClr val="4A5C5E"/>
                </a:solidFill>
                <a:latin typeface="Calibri" pitchFamily="34" charset="0"/>
                <a:ea typeface="Calibri" pitchFamily="34" charset="-122"/>
                <a:cs typeface="Calibri" pitchFamily="34" charset="-120"/>
              </a:rPr>
              <a:t>(XGBoost screening model)</a:t>
            </a:r>
            <a:endParaRPr lang="en-US" sz="1100" dirty="0"/>
          </a:p>
        </p:txBody>
      </p:sp>
      <p:sp>
        <p:nvSpPr>
          <p:cNvPr id="12" name="Shape 10"/>
          <p:cNvSpPr/>
          <p:nvPr/>
        </p:nvSpPr>
        <p:spPr>
          <a:xfrm>
            <a:off x="6089904" y="1554480"/>
            <a:ext cx="2606040" cy="1691640"/>
          </a:xfrm>
          <a:prstGeom prst="rect">
            <a:avLst/>
          </a:prstGeom>
          <a:solidFill>
            <a:srgbClr val="F5F2EC"/>
          </a:solidFill>
          <a:ln w="6350">
            <a:solidFill>
              <a:srgbClr val="D9D2C7"/>
            </a:solidFill>
            <a:prstDash val="solid"/>
          </a:ln>
        </p:spPr>
        <p:txBody>
          <a:bodyPr/>
          <a:lstStyle/>
          <a:p>
            <a:endParaRPr lang="en-US" dirty="0"/>
          </a:p>
        </p:txBody>
      </p:sp>
      <p:sp>
        <p:nvSpPr>
          <p:cNvPr id="13" name="Shape 11"/>
          <p:cNvSpPr/>
          <p:nvPr/>
        </p:nvSpPr>
        <p:spPr>
          <a:xfrm>
            <a:off x="6089904" y="1554480"/>
            <a:ext cx="2606040" cy="73152"/>
          </a:xfrm>
          <a:prstGeom prst="rect">
            <a:avLst/>
          </a:prstGeom>
          <a:solidFill>
            <a:srgbClr val="1E8E8C"/>
          </a:solidFill>
          <a:ln w="12700">
            <a:solidFill>
              <a:srgbClr val="1E8E8C"/>
            </a:solidFill>
            <a:prstDash val="solid"/>
          </a:ln>
        </p:spPr>
        <p:txBody>
          <a:bodyPr/>
          <a:lstStyle/>
          <a:p>
            <a:endParaRPr lang="en-US" dirty="0"/>
          </a:p>
        </p:txBody>
      </p:sp>
      <p:sp>
        <p:nvSpPr>
          <p:cNvPr id="14" name="Text 12"/>
          <p:cNvSpPr/>
          <p:nvPr/>
        </p:nvSpPr>
        <p:spPr>
          <a:xfrm>
            <a:off x="6089904" y="1719072"/>
            <a:ext cx="2606040" cy="777240"/>
          </a:xfrm>
          <a:prstGeom prst="rect">
            <a:avLst/>
          </a:prstGeom>
          <a:noFill/>
          <a:ln/>
        </p:spPr>
        <p:txBody>
          <a:bodyPr wrap="square" lIns="0" tIns="0" rIns="0" bIns="0" rtlCol="0" anchor="ctr"/>
          <a:lstStyle/>
          <a:p>
            <a:pPr marL="0" indent="0" algn="ctr">
              <a:buNone/>
            </a:pPr>
            <a:r>
              <a:rPr lang="en-US" sz="3800" b="1" dirty="0">
                <a:solidFill>
                  <a:srgbClr val="1E8E8C"/>
                </a:solidFill>
                <a:latin typeface="Georgia" pitchFamily="34" charset="0"/>
                <a:ea typeface="Georgia" pitchFamily="34" charset="-122"/>
                <a:cs typeface="Georgia" pitchFamily="34" charset="-120"/>
              </a:rPr>
              <a:t>+49%</a:t>
            </a:r>
            <a:endParaRPr lang="en-US" sz="3800" dirty="0"/>
          </a:p>
        </p:txBody>
      </p:sp>
      <p:sp>
        <p:nvSpPr>
          <p:cNvPr id="15" name="Text 13"/>
          <p:cNvSpPr/>
          <p:nvPr/>
        </p:nvSpPr>
        <p:spPr>
          <a:xfrm>
            <a:off x="6181344" y="2514600"/>
            <a:ext cx="2423160" cy="685800"/>
          </a:xfrm>
          <a:prstGeom prst="rect">
            <a:avLst/>
          </a:prstGeom>
          <a:noFill/>
          <a:ln/>
        </p:spPr>
        <p:txBody>
          <a:bodyPr wrap="square" lIns="0" tIns="0" rIns="0" bIns="0" rtlCol="0" anchor="ctr"/>
          <a:lstStyle/>
          <a:p>
            <a:pPr marL="0" indent="0" algn="ctr">
              <a:buNone/>
            </a:pPr>
            <a:r>
              <a:rPr lang="en-US" sz="1100" dirty="0">
                <a:solidFill>
                  <a:srgbClr val="4A5C5E"/>
                </a:solidFill>
                <a:latin typeface="Calibri" pitchFamily="34" charset="0"/>
                <a:ea typeface="Calibri" pitchFamily="34" charset="-122"/>
                <a:cs typeface="Calibri" pitchFamily="34" charset="-120"/>
              </a:rPr>
              <a:t>minority-class sensitivity</a:t>
            </a:r>
            <a:endParaRPr lang="en-US" sz="1100" dirty="0"/>
          </a:p>
          <a:p>
            <a:pPr marL="0" indent="0" algn="ctr">
              <a:buNone/>
            </a:pPr>
            <a:r>
              <a:rPr lang="en-US" sz="1100" dirty="0">
                <a:solidFill>
                  <a:srgbClr val="4A5C5E"/>
                </a:solidFill>
                <a:latin typeface="Calibri" pitchFamily="34" charset="0"/>
                <a:ea typeface="Calibri" pitchFamily="34" charset="-122"/>
                <a:cs typeface="Calibri" pitchFamily="34" charset="-120"/>
              </a:rPr>
              <a:t>gain from SMOTE</a:t>
            </a:r>
            <a:endParaRPr lang="en-US" sz="1100" dirty="0"/>
          </a:p>
        </p:txBody>
      </p:sp>
      <p:sp>
        <p:nvSpPr>
          <p:cNvPr id="16" name="Shape 14"/>
          <p:cNvSpPr/>
          <p:nvPr/>
        </p:nvSpPr>
        <p:spPr>
          <a:xfrm>
            <a:off x="8860536" y="1554480"/>
            <a:ext cx="2606040" cy="1691640"/>
          </a:xfrm>
          <a:prstGeom prst="rect">
            <a:avLst/>
          </a:prstGeom>
          <a:solidFill>
            <a:srgbClr val="F5F2EC"/>
          </a:solidFill>
          <a:ln w="6350">
            <a:solidFill>
              <a:srgbClr val="D9D2C7"/>
            </a:solidFill>
            <a:prstDash val="solid"/>
          </a:ln>
        </p:spPr>
        <p:txBody>
          <a:bodyPr/>
          <a:lstStyle/>
          <a:p>
            <a:endParaRPr lang="en-US" dirty="0"/>
          </a:p>
        </p:txBody>
      </p:sp>
      <p:sp>
        <p:nvSpPr>
          <p:cNvPr id="17" name="Shape 15"/>
          <p:cNvSpPr/>
          <p:nvPr/>
        </p:nvSpPr>
        <p:spPr>
          <a:xfrm>
            <a:off x="8860536" y="1554480"/>
            <a:ext cx="2606040" cy="73152"/>
          </a:xfrm>
          <a:prstGeom prst="rect">
            <a:avLst/>
          </a:prstGeom>
          <a:solidFill>
            <a:srgbClr val="E2725B"/>
          </a:solidFill>
          <a:ln w="12700">
            <a:solidFill>
              <a:srgbClr val="E2725B"/>
            </a:solidFill>
            <a:prstDash val="solid"/>
          </a:ln>
        </p:spPr>
        <p:txBody>
          <a:bodyPr/>
          <a:lstStyle/>
          <a:p>
            <a:endParaRPr lang="en-US" dirty="0"/>
          </a:p>
        </p:txBody>
      </p:sp>
      <p:sp>
        <p:nvSpPr>
          <p:cNvPr id="18" name="Text 16"/>
          <p:cNvSpPr/>
          <p:nvPr/>
        </p:nvSpPr>
        <p:spPr>
          <a:xfrm>
            <a:off x="8860536" y="1719072"/>
            <a:ext cx="2606040" cy="777240"/>
          </a:xfrm>
          <a:prstGeom prst="rect">
            <a:avLst/>
          </a:prstGeom>
          <a:noFill/>
          <a:ln/>
        </p:spPr>
        <p:txBody>
          <a:bodyPr wrap="square" lIns="0" tIns="0" rIns="0" bIns="0" rtlCol="0" anchor="ctr"/>
          <a:lstStyle/>
          <a:p>
            <a:pPr marL="0" indent="0" algn="ctr">
              <a:buNone/>
            </a:pPr>
            <a:r>
              <a:rPr lang="en-US" sz="3800" b="1" dirty="0">
                <a:solidFill>
                  <a:srgbClr val="E2725B"/>
                </a:solidFill>
                <a:latin typeface="Georgia" pitchFamily="34" charset="0"/>
                <a:ea typeface="Georgia" pitchFamily="34" charset="-122"/>
                <a:cs typeface="Georgia" pitchFamily="34" charset="-120"/>
              </a:rPr>
              <a:t>0.161</a:t>
            </a:r>
            <a:endParaRPr lang="en-US" sz="3800" dirty="0"/>
          </a:p>
        </p:txBody>
      </p:sp>
      <p:sp>
        <p:nvSpPr>
          <p:cNvPr id="19" name="Text 17"/>
          <p:cNvSpPr/>
          <p:nvPr/>
        </p:nvSpPr>
        <p:spPr>
          <a:xfrm>
            <a:off x="8951976" y="2514600"/>
            <a:ext cx="2423160" cy="685800"/>
          </a:xfrm>
          <a:prstGeom prst="rect">
            <a:avLst/>
          </a:prstGeom>
          <a:noFill/>
          <a:ln/>
        </p:spPr>
        <p:txBody>
          <a:bodyPr wrap="square" lIns="0" tIns="0" rIns="0" bIns="0" rtlCol="0" anchor="ctr"/>
          <a:lstStyle/>
          <a:p>
            <a:pPr marL="0" indent="0" algn="ctr">
              <a:buNone/>
            </a:pPr>
            <a:r>
              <a:rPr lang="en-US" sz="1100" dirty="0">
                <a:solidFill>
                  <a:srgbClr val="4A5C5E"/>
                </a:solidFill>
                <a:latin typeface="Calibri" pitchFamily="34" charset="0"/>
                <a:ea typeface="Calibri" pitchFamily="34" charset="-122"/>
                <a:cs typeface="Calibri" pitchFamily="34" charset="-120"/>
              </a:rPr>
              <a:t>income-based</a:t>
            </a:r>
            <a:endParaRPr lang="en-US" sz="1100" dirty="0"/>
          </a:p>
          <a:p>
            <a:pPr marL="0" indent="0" algn="ctr">
              <a:buNone/>
            </a:pPr>
            <a:r>
              <a:rPr lang="en-US" sz="1100" dirty="0">
                <a:solidFill>
                  <a:srgbClr val="4A5C5E"/>
                </a:solidFill>
                <a:latin typeface="Calibri" pitchFamily="34" charset="0"/>
                <a:ea typeface="Calibri" pitchFamily="34" charset="-122"/>
                <a:cs typeface="Calibri" pitchFamily="34" charset="-120"/>
              </a:rPr>
              <a:t>fairness gap  •  BIAS</a:t>
            </a:r>
            <a:endParaRPr lang="en-US" sz="1100" dirty="0"/>
          </a:p>
        </p:txBody>
      </p:sp>
      <p:sp>
        <p:nvSpPr>
          <p:cNvPr id="20" name="Shape 18"/>
          <p:cNvSpPr/>
          <p:nvPr/>
        </p:nvSpPr>
        <p:spPr>
          <a:xfrm>
            <a:off x="548640" y="3520440"/>
            <a:ext cx="11064240" cy="1417320"/>
          </a:xfrm>
          <a:prstGeom prst="rect">
            <a:avLst/>
          </a:prstGeom>
          <a:solidFill>
            <a:srgbClr val="0F4C5C"/>
          </a:solidFill>
          <a:ln w="12700">
            <a:solidFill>
              <a:srgbClr val="0F4C5C"/>
            </a:solidFill>
            <a:prstDash val="solid"/>
          </a:ln>
        </p:spPr>
        <p:txBody>
          <a:bodyPr/>
          <a:lstStyle/>
          <a:p>
            <a:endParaRPr lang="en-US" dirty="0"/>
          </a:p>
        </p:txBody>
      </p:sp>
      <p:sp>
        <p:nvSpPr>
          <p:cNvPr id="21" name="Shape 19"/>
          <p:cNvSpPr/>
          <p:nvPr/>
        </p:nvSpPr>
        <p:spPr>
          <a:xfrm>
            <a:off x="548640" y="3520440"/>
            <a:ext cx="109728" cy="1417320"/>
          </a:xfrm>
          <a:prstGeom prst="rect">
            <a:avLst/>
          </a:prstGeom>
          <a:solidFill>
            <a:srgbClr val="E2725B"/>
          </a:solidFill>
          <a:ln w="12700">
            <a:solidFill>
              <a:srgbClr val="E2725B"/>
            </a:solidFill>
            <a:prstDash val="solid"/>
          </a:ln>
        </p:spPr>
        <p:txBody>
          <a:bodyPr/>
          <a:lstStyle/>
          <a:p>
            <a:endParaRPr lang="en-US" dirty="0"/>
          </a:p>
        </p:txBody>
      </p:sp>
      <p:sp>
        <p:nvSpPr>
          <p:cNvPr id="22" name="Text 20"/>
          <p:cNvSpPr/>
          <p:nvPr/>
        </p:nvSpPr>
        <p:spPr>
          <a:xfrm>
            <a:off x="868680" y="3611880"/>
            <a:ext cx="10058400" cy="274320"/>
          </a:xfrm>
          <a:prstGeom prst="rect">
            <a:avLst/>
          </a:prstGeom>
          <a:noFill/>
          <a:ln/>
        </p:spPr>
        <p:txBody>
          <a:bodyPr wrap="square" lIns="0" tIns="0" rIns="0" bIns="0" rtlCol="0" anchor="ctr"/>
          <a:lstStyle/>
          <a:p>
            <a:pPr marL="0" indent="0">
              <a:buNone/>
            </a:pPr>
            <a:r>
              <a:rPr lang="en-US" sz="1000" b="1" kern="0" spc="400" dirty="0">
                <a:solidFill>
                  <a:srgbClr val="E2725B"/>
                </a:solidFill>
                <a:latin typeface="Calibri" pitchFamily="34" charset="0"/>
                <a:ea typeface="Calibri" pitchFamily="34" charset="-122"/>
                <a:cs typeface="Calibri" pitchFamily="34" charset="-120"/>
              </a:rPr>
              <a:t>KEY RESEARCH FINDING</a:t>
            </a:r>
            <a:endParaRPr lang="en-US" sz="1000" dirty="0"/>
          </a:p>
        </p:txBody>
      </p:sp>
      <p:sp>
        <p:nvSpPr>
          <p:cNvPr id="23" name="Text 21"/>
          <p:cNvSpPr/>
          <p:nvPr/>
        </p:nvSpPr>
        <p:spPr>
          <a:xfrm>
            <a:off x="868680" y="3886200"/>
            <a:ext cx="10515600" cy="1005840"/>
          </a:xfrm>
          <a:prstGeom prst="rect">
            <a:avLst/>
          </a:prstGeom>
          <a:noFill/>
          <a:ln/>
        </p:spPr>
        <p:txBody>
          <a:bodyPr wrap="square" lIns="0" tIns="0" rIns="0" bIns="0" rtlCol="0" anchor="ctr"/>
          <a:lstStyle/>
          <a:p>
            <a:pPr marL="0" indent="0">
              <a:buNone/>
            </a:pPr>
            <a:r>
              <a:rPr lang="en-US" sz="1350" i="1" dirty="0">
                <a:solidFill>
                  <a:srgbClr val="FFFFFF"/>
                </a:solidFill>
                <a:latin typeface="Georgia" pitchFamily="34" charset="0"/>
                <a:ea typeface="Georgia" pitchFamily="34" charset="-122"/>
                <a:cs typeface="Georgia" pitchFamily="34" charset="-120"/>
              </a:rPr>
              <a:t>XGBoost narrowly leads on AUC, but Logistic Regression nearly matches it (0.798) while staying interpretable and well-calibrated. The real story isn't the model. It is about lowering the decision threshold to 0.30 doubles diabetic-case detection, and that the model under-screens higher-income patients by 16 sensitivity points.</a:t>
            </a:r>
            <a:endParaRPr lang="en-US" sz="1350" dirty="0"/>
          </a:p>
        </p:txBody>
      </p:sp>
      <p:sp>
        <p:nvSpPr>
          <p:cNvPr id="24" name="Text 22"/>
          <p:cNvSpPr/>
          <p:nvPr/>
        </p:nvSpPr>
        <p:spPr>
          <a:xfrm>
            <a:off x="548640" y="5120640"/>
            <a:ext cx="5486400" cy="274320"/>
          </a:xfrm>
          <a:prstGeom prst="rect">
            <a:avLst/>
          </a:prstGeom>
          <a:noFill/>
          <a:ln/>
        </p:spPr>
        <p:txBody>
          <a:bodyPr wrap="square" lIns="0" tIns="0" rIns="0" bIns="0" rtlCol="0" anchor="ctr"/>
          <a:lstStyle/>
          <a:p>
            <a:pPr marL="0" indent="0">
              <a:buNone/>
            </a:pPr>
            <a:r>
              <a:rPr lang="en-US" sz="1100" b="1" kern="0" spc="300" dirty="0">
                <a:solidFill>
                  <a:srgbClr val="E2725B"/>
                </a:solidFill>
                <a:latin typeface="Calibri" pitchFamily="34" charset="0"/>
                <a:ea typeface="Calibri" pitchFamily="34" charset="-122"/>
                <a:cs typeface="Calibri" pitchFamily="34" charset="-120"/>
              </a:rPr>
              <a:t>Recommended next work</a:t>
            </a:r>
            <a:endParaRPr lang="en-US" sz="1100" dirty="0"/>
          </a:p>
        </p:txBody>
      </p:sp>
      <p:sp>
        <p:nvSpPr>
          <p:cNvPr id="25" name="Text 23"/>
          <p:cNvSpPr/>
          <p:nvPr/>
        </p:nvSpPr>
        <p:spPr>
          <a:xfrm>
            <a:off x="548640" y="5394960"/>
            <a:ext cx="11064240" cy="960120"/>
          </a:xfrm>
          <a:prstGeom prst="rect">
            <a:avLst/>
          </a:prstGeom>
          <a:noFill/>
          <a:ln/>
        </p:spPr>
        <p:txBody>
          <a:bodyPr wrap="square" rtlCol="0" anchor="ctr"/>
          <a:lstStyle/>
          <a:p>
            <a:pPr marL="342900" indent="-342900">
              <a:spcAft>
                <a:spcPts val="200"/>
              </a:spcAft>
              <a:buSzPct val="100000"/>
              <a:buChar char="•"/>
            </a:pPr>
            <a:r>
              <a:rPr lang="en-US" sz="1200" dirty="0">
                <a:solidFill>
                  <a:srgbClr val="1A2B2C"/>
                </a:solidFill>
                <a:latin typeface="Calibri" pitchFamily="34" charset="0"/>
                <a:ea typeface="Calibri" pitchFamily="34" charset="-122"/>
                <a:cs typeface="Calibri" pitchFamily="34" charset="-120"/>
              </a:rPr>
              <a:t>Apply Platt scaling on RF/XGBoost probabilities before clinical use</a:t>
            </a:r>
            <a:endParaRPr lang="en-US" sz="1200" dirty="0"/>
          </a:p>
          <a:p>
            <a:pPr marL="342900" indent="-342900">
              <a:spcAft>
                <a:spcPts val="200"/>
              </a:spcAft>
              <a:buSzPct val="100000"/>
              <a:buChar char="•"/>
            </a:pPr>
            <a:r>
              <a:rPr lang="en-US" sz="1200" dirty="0">
                <a:solidFill>
                  <a:srgbClr val="1A2B2C"/>
                </a:solidFill>
                <a:latin typeface="Calibri" pitchFamily="34" charset="0"/>
                <a:ea typeface="Calibri" pitchFamily="34" charset="-122"/>
                <a:cs typeface="Calibri" pitchFamily="34" charset="-120"/>
              </a:rPr>
              <a:t>Adversarial debiasing or per-income reweighting to close the fairness gap</a:t>
            </a:r>
            <a:endParaRPr lang="en-US" sz="1200" dirty="0"/>
          </a:p>
          <a:p>
            <a:pPr marL="342900" indent="-342900">
              <a:spcAft>
                <a:spcPts val="200"/>
              </a:spcAft>
              <a:buSzPct val="100000"/>
              <a:buChar char="•"/>
            </a:pPr>
            <a:r>
              <a:rPr lang="en-US" sz="1200" dirty="0">
                <a:solidFill>
                  <a:srgbClr val="1A2B2C"/>
                </a:solidFill>
                <a:latin typeface="Calibri" pitchFamily="34" charset="0"/>
                <a:ea typeface="Calibri" pitchFamily="34" charset="-122"/>
                <a:cs typeface="Calibri" pitchFamily="34" charset="-120"/>
              </a:rPr>
              <a:t>External validation against HbA1c-confirmed clinical records</a:t>
            </a:r>
            <a:endParaRPr lang="en-US" sz="1200" dirty="0"/>
          </a:p>
        </p:txBody>
      </p:sp>
      <p:sp>
        <p:nvSpPr>
          <p:cNvPr id="26" name="Shape 24"/>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27" name="Text 25"/>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28" name="Text 26"/>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02  •  PROJECT PLAN</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Team, timeline, methodology, and what changed</a:t>
            </a:r>
            <a:endParaRPr lang="en-US" sz="3000" dirty="0"/>
          </a:p>
        </p:txBody>
      </p:sp>
      <p:sp>
        <p:nvSpPr>
          <p:cNvPr id="4" name="Text 2"/>
          <p:cNvSpPr/>
          <p:nvPr/>
        </p:nvSpPr>
        <p:spPr>
          <a:xfrm>
            <a:off x="548640" y="1463040"/>
            <a:ext cx="4572000" cy="320040"/>
          </a:xfrm>
          <a:prstGeom prst="rect">
            <a:avLst/>
          </a:prstGeom>
          <a:noFill/>
          <a:ln/>
        </p:spPr>
        <p:txBody>
          <a:bodyPr wrap="square" lIns="0" tIns="0" rIns="0" bIns="0" rtlCol="0" anchor="ctr"/>
          <a:lstStyle/>
          <a:p>
            <a:pPr marL="0" indent="0">
              <a:buNone/>
            </a:pPr>
            <a:r>
              <a:rPr lang="en-US" sz="1300" b="1" dirty="0">
                <a:solidFill>
                  <a:srgbClr val="0F4C5C"/>
                </a:solidFill>
                <a:latin typeface="Calibri" pitchFamily="34" charset="0"/>
                <a:ea typeface="Calibri" pitchFamily="34" charset="-122"/>
                <a:cs typeface="Calibri" pitchFamily="34" charset="-120"/>
              </a:rPr>
              <a:t>Team (4 graduate students)</a:t>
            </a:r>
            <a:endParaRPr lang="en-US" sz="1300" dirty="0"/>
          </a:p>
        </p:txBody>
      </p:sp>
      <p:sp>
        <p:nvSpPr>
          <p:cNvPr id="5" name="Shape 3"/>
          <p:cNvSpPr/>
          <p:nvPr/>
        </p:nvSpPr>
        <p:spPr>
          <a:xfrm>
            <a:off x="548640" y="1874520"/>
            <a:ext cx="2468880" cy="1234440"/>
          </a:xfrm>
          <a:prstGeom prst="rect">
            <a:avLst/>
          </a:prstGeom>
          <a:solidFill>
            <a:srgbClr val="F5F2EC"/>
          </a:solidFill>
          <a:ln w="6350">
            <a:solidFill>
              <a:srgbClr val="D9D2C7"/>
            </a:solidFill>
            <a:prstDash val="solid"/>
          </a:ln>
        </p:spPr>
        <p:txBody>
          <a:bodyPr/>
          <a:lstStyle/>
          <a:p>
            <a:endParaRPr lang="en-US" dirty="0"/>
          </a:p>
        </p:txBody>
      </p:sp>
      <p:sp>
        <p:nvSpPr>
          <p:cNvPr id="6" name="Shape 4"/>
          <p:cNvSpPr/>
          <p:nvPr/>
        </p:nvSpPr>
        <p:spPr>
          <a:xfrm>
            <a:off x="713232" y="2075688"/>
            <a:ext cx="777240" cy="777240"/>
          </a:xfrm>
          <a:prstGeom prst="ellipse">
            <a:avLst/>
          </a:prstGeom>
          <a:solidFill>
            <a:srgbClr val="0F4C5C"/>
          </a:solidFill>
          <a:ln w="12700">
            <a:solidFill>
              <a:srgbClr val="0F4C5C"/>
            </a:solidFill>
            <a:prstDash val="solid"/>
          </a:ln>
        </p:spPr>
        <p:txBody>
          <a:bodyPr/>
          <a:lstStyle/>
          <a:p>
            <a:endParaRPr lang="en-US" dirty="0"/>
          </a:p>
        </p:txBody>
      </p:sp>
      <p:sp>
        <p:nvSpPr>
          <p:cNvPr id="7" name="Text 5"/>
          <p:cNvSpPr/>
          <p:nvPr/>
        </p:nvSpPr>
        <p:spPr>
          <a:xfrm>
            <a:off x="713232" y="2121408"/>
            <a:ext cx="77724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M1</a:t>
            </a:r>
            <a:endParaRPr lang="en-US" sz="2200" dirty="0"/>
          </a:p>
        </p:txBody>
      </p:sp>
      <p:sp>
        <p:nvSpPr>
          <p:cNvPr id="8" name="Text 6"/>
          <p:cNvSpPr/>
          <p:nvPr/>
        </p:nvSpPr>
        <p:spPr>
          <a:xfrm>
            <a:off x="1600200" y="2075688"/>
            <a:ext cx="1325880" cy="36576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Urjita</a:t>
            </a:r>
            <a:endParaRPr lang="en-US" sz="1300" dirty="0"/>
          </a:p>
        </p:txBody>
      </p:sp>
      <p:sp>
        <p:nvSpPr>
          <p:cNvPr id="9" name="Text 7"/>
          <p:cNvSpPr/>
          <p:nvPr/>
        </p:nvSpPr>
        <p:spPr>
          <a:xfrm>
            <a:off x="1600200" y="2423160"/>
            <a:ext cx="1325880" cy="64008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Data engineering &amp; cleaning</a:t>
            </a:r>
            <a:endParaRPr lang="en-US" sz="1000" dirty="0"/>
          </a:p>
        </p:txBody>
      </p:sp>
      <p:sp>
        <p:nvSpPr>
          <p:cNvPr id="10" name="Shape 8"/>
          <p:cNvSpPr/>
          <p:nvPr/>
        </p:nvSpPr>
        <p:spPr>
          <a:xfrm>
            <a:off x="3200400" y="1874520"/>
            <a:ext cx="2468880" cy="1234440"/>
          </a:xfrm>
          <a:prstGeom prst="rect">
            <a:avLst/>
          </a:prstGeom>
          <a:solidFill>
            <a:srgbClr val="F5F2EC"/>
          </a:solidFill>
          <a:ln w="6350">
            <a:solidFill>
              <a:srgbClr val="D9D2C7"/>
            </a:solidFill>
            <a:prstDash val="solid"/>
          </a:ln>
        </p:spPr>
        <p:txBody>
          <a:bodyPr/>
          <a:lstStyle/>
          <a:p>
            <a:endParaRPr lang="en-US" dirty="0"/>
          </a:p>
        </p:txBody>
      </p:sp>
      <p:sp>
        <p:nvSpPr>
          <p:cNvPr id="11" name="Shape 9"/>
          <p:cNvSpPr/>
          <p:nvPr/>
        </p:nvSpPr>
        <p:spPr>
          <a:xfrm>
            <a:off x="3364992" y="2075688"/>
            <a:ext cx="777240" cy="777240"/>
          </a:xfrm>
          <a:prstGeom prst="ellipse">
            <a:avLst/>
          </a:prstGeom>
          <a:solidFill>
            <a:srgbClr val="14758A"/>
          </a:solidFill>
          <a:ln w="12700">
            <a:solidFill>
              <a:srgbClr val="14758A"/>
            </a:solidFill>
            <a:prstDash val="solid"/>
          </a:ln>
        </p:spPr>
        <p:txBody>
          <a:bodyPr/>
          <a:lstStyle/>
          <a:p>
            <a:endParaRPr lang="en-US" dirty="0"/>
          </a:p>
        </p:txBody>
      </p:sp>
      <p:sp>
        <p:nvSpPr>
          <p:cNvPr id="12" name="Text 10"/>
          <p:cNvSpPr/>
          <p:nvPr/>
        </p:nvSpPr>
        <p:spPr>
          <a:xfrm>
            <a:off x="3364992" y="2121408"/>
            <a:ext cx="77724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M2</a:t>
            </a:r>
            <a:endParaRPr lang="en-US" sz="2200" dirty="0"/>
          </a:p>
        </p:txBody>
      </p:sp>
      <p:sp>
        <p:nvSpPr>
          <p:cNvPr id="13" name="Text 11"/>
          <p:cNvSpPr/>
          <p:nvPr/>
        </p:nvSpPr>
        <p:spPr>
          <a:xfrm>
            <a:off x="4251960" y="2075688"/>
            <a:ext cx="1325880" cy="36576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Vinamratha </a:t>
            </a:r>
            <a:endParaRPr lang="en-US" sz="1300" dirty="0"/>
          </a:p>
        </p:txBody>
      </p:sp>
      <p:sp>
        <p:nvSpPr>
          <p:cNvPr id="14" name="Text 12"/>
          <p:cNvSpPr/>
          <p:nvPr/>
        </p:nvSpPr>
        <p:spPr>
          <a:xfrm>
            <a:off x="4251960" y="2423160"/>
            <a:ext cx="1325880" cy="64008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EDA &amp; visualization</a:t>
            </a:r>
            <a:endParaRPr lang="en-US" sz="1000" dirty="0"/>
          </a:p>
        </p:txBody>
      </p:sp>
      <p:sp>
        <p:nvSpPr>
          <p:cNvPr id="15" name="Shape 13"/>
          <p:cNvSpPr/>
          <p:nvPr/>
        </p:nvSpPr>
        <p:spPr>
          <a:xfrm>
            <a:off x="548640" y="3291840"/>
            <a:ext cx="2468880" cy="1234440"/>
          </a:xfrm>
          <a:prstGeom prst="rect">
            <a:avLst/>
          </a:prstGeom>
          <a:solidFill>
            <a:srgbClr val="F5F2EC"/>
          </a:solidFill>
          <a:ln w="6350">
            <a:solidFill>
              <a:srgbClr val="D9D2C7"/>
            </a:solidFill>
            <a:prstDash val="solid"/>
          </a:ln>
        </p:spPr>
        <p:txBody>
          <a:bodyPr/>
          <a:lstStyle/>
          <a:p>
            <a:endParaRPr lang="en-US" dirty="0"/>
          </a:p>
        </p:txBody>
      </p:sp>
      <p:sp>
        <p:nvSpPr>
          <p:cNvPr id="16" name="Shape 14"/>
          <p:cNvSpPr/>
          <p:nvPr/>
        </p:nvSpPr>
        <p:spPr>
          <a:xfrm>
            <a:off x="713232" y="3493008"/>
            <a:ext cx="777240" cy="777240"/>
          </a:xfrm>
          <a:prstGeom prst="ellipse">
            <a:avLst/>
          </a:prstGeom>
          <a:solidFill>
            <a:srgbClr val="1E8E8C"/>
          </a:solidFill>
          <a:ln w="12700">
            <a:solidFill>
              <a:srgbClr val="1E8E8C"/>
            </a:solidFill>
            <a:prstDash val="solid"/>
          </a:ln>
        </p:spPr>
        <p:txBody>
          <a:bodyPr/>
          <a:lstStyle/>
          <a:p>
            <a:endParaRPr lang="en-US" dirty="0"/>
          </a:p>
        </p:txBody>
      </p:sp>
      <p:sp>
        <p:nvSpPr>
          <p:cNvPr id="17" name="Text 15"/>
          <p:cNvSpPr/>
          <p:nvPr/>
        </p:nvSpPr>
        <p:spPr>
          <a:xfrm>
            <a:off x="713232" y="3538728"/>
            <a:ext cx="77724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M3</a:t>
            </a:r>
            <a:endParaRPr lang="en-US" sz="2200" dirty="0"/>
          </a:p>
        </p:txBody>
      </p:sp>
      <p:sp>
        <p:nvSpPr>
          <p:cNvPr id="18" name="Text 16"/>
          <p:cNvSpPr/>
          <p:nvPr/>
        </p:nvSpPr>
        <p:spPr>
          <a:xfrm>
            <a:off x="1600200" y="3493008"/>
            <a:ext cx="1325880" cy="36576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Naman</a:t>
            </a:r>
            <a:endParaRPr lang="en-US" sz="1300" dirty="0"/>
          </a:p>
        </p:txBody>
      </p:sp>
      <p:sp>
        <p:nvSpPr>
          <p:cNvPr id="19" name="Text 17"/>
          <p:cNvSpPr/>
          <p:nvPr/>
        </p:nvSpPr>
        <p:spPr>
          <a:xfrm>
            <a:off x="1600200" y="3840480"/>
            <a:ext cx="1325880" cy="64008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Modeling &amp; hyperparameter tuning</a:t>
            </a:r>
            <a:endParaRPr lang="en-US" sz="1000" dirty="0"/>
          </a:p>
        </p:txBody>
      </p:sp>
      <p:sp>
        <p:nvSpPr>
          <p:cNvPr id="20" name="Shape 18"/>
          <p:cNvSpPr/>
          <p:nvPr/>
        </p:nvSpPr>
        <p:spPr>
          <a:xfrm>
            <a:off x="3200400" y="3291840"/>
            <a:ext cx="2468880" cy="1234440"/>
          </a:xfrm>
          <a:prstGeom prst="rect">
            <a:avLst/>
          </a:prstGeom>
          <a:solidFill>
            <a:srgbClr val="F5F2EC"/>
          </a:solidFill>
          <a:ln w="6350">
            <a:solidFill>
              <a:srgbClr val="D9D2C7"/>
            </a:solidFill>
            <a:prstDash val="solid"/>
          </a:ln>
        </p:spPr>
        <p:txBody>
          <a:bodyPr/>
          <a:lstStyle/>
          <a:p>
            <a:endParaRPr lang="en-US" dirty="0"/>
          </a:p>
        </p:txBody>
      </p:sp>
      <p:sp>
        <p:nvSpPr>
          <p:cNvPr id="21" name="Shape 19"/>
          <p:cNvSpPr/>
          <p:nvPr/>
        </p:nvSpPr>
        <p:spPr>
          <a:xfrm>
            <a:off x="3364992" y="3493008"/>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22" name="Text 20"/>
          <p:cNvSpPr/>
          <p:nvPr/>
        </p:nvSpPr>
        <p:spPr>
          <a:xfrm>
            <a:off x="3364992" y="3538728"/>
            <a:ext cx="77724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M4</a:t>
            </a:r>
            <a:endParaRPr lang="en-US" sz="2200" dirty="0"/>
          </a:p>
        </p:txBody>
      </p:sp>
      <p:sp>
        <p:nvSpPr>
          <p:cNvPr id="23" name="Text 21"/>
          <p:cNvSpPr/>
          <p:nvPr/>
        </p:nvSpPr>
        <p:spPr>
          <a:xfrm>
            <a:off x="4251960" y="3493008"/>
            <a:ext cx="1325880" cy="36576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Deepali</a:t>
            </a:r>
            <a:endParaRPr lang="en-US" sz="1300" dirty="0"/>
          </a:p>
        </p:txBody>
      </p:sp>
      <p:sp>
        <p:nvSpPr>
          <p:cNvPr id="24" name="Text 22"/>
          <p:cNvSpPr/>
          <p:nvPr/>
        </p:nvSpPr>
        <p:spPr>
          <a:xfrm>
            <a:off x="4251960" y="3840480"/>
            <a:ext cx="1325880" cy="64008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Fairness, calibration &amp; reporting</a:t>
            </a:r>
            <a:endParaRPr lang="en-US" sz="1000" dirty="0"/>
          </a:p>
        </p:txBody>
      </p:sp>
      <p:sp>
        <p:nvSpPr>
          <p:cNvPr id="25" name="Text 23"/>
          <p:cNvSpPr/>
          <p:nvPr/>
        </p:nvSpPr>
        <p:spPr>
          <a:xfrm>
            <a:off x="5943600" y="1463040"/>
            <a:ext cx="5486400" cy="320040"/>
          </a:xfrm>
          <a:prstGeom prst="rect">
            <a:avLst/>
          </a:prstGeom>
          <a:noFill/>
          <a:ln/>
        </p:spPr>
        <p:txBody>
          <a:bodyPr wrap="square" lIns="0" tIns="0" rIns="0" bIns="0" rtlCol="0" anchor="ctr"/>
          <a:lstStyle/>
          <a:p>
            <a:pPr marL="0" indent="0">
              <a:buNone/>
            </a:pPr>
            <a:r>
              <a:rPr lang="en-US" sz="1300" b="1" dirty="0">
                <a:solidFill>
                  <a:srgbClr val="0F4C5C"/>
                </a:solidFill>
                <a:latin typeface="Calibri" pitchFamily="34" charset="0"/>
                <a:ea typeface="Calibri" pitchFamily="34" charset="-122"/>
                <a:cs typeface="Calibri" pitchFamily="34" charset="-120"/>
              </a:rPr>
              <a:t>Timeline &amp; methodology</a:t>
            </a:r>
            <a:endParaRPr lang="en-US" sz="1300" dirty="0"/>
          </a:p>
        </p:txBody>
      </p:sp>
      <p:sp>
        <p:nvSpPr>
          <p:cNvPr id="26" name="Shape 24"/>
          <p:cNvSpPr/>
          <p:nvPr/>
        </p:nvSpPr>
        <p:spPr>
          <a:xfrm>
            <a:off x="5943600" y="192024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27" name="Text 25"/>
          <p:cNvSpPr/>
          <p:nvPr/>
        </p:nvSpPr>
        <p:spPr>
          <a:xfrm>
            <a:off x="5943600" y="1920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6355080" y="189280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1–2</a:t>
            </a:r>
            <a:endParaRPr lang="en-US" sz="1000" dirty="0"/>
          </a:p>
        </p:txBody>
      </p:sp>
      <p:sp>
        <p:nvSpPr>
          <p:cNvPr id="29" name="Text 27"/>
          <p:cNvSpPr/>
          <p:nvPr/>
        </p:nvSpPr>
        <p:spPr>
          <a:xfrm>
            <a:off x="7452360" y="189280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Scoping &amp; data acquisition</a:t>
            </a:r>
            <a:endParaRPr lang="en-US" sz="1300" dirty="0"/>
          </a:p>
        </p:txBody>
      </p:sp>
      <p:sp>
        <p:nvSpPr>
          <p:cNvPr id="30" name="Text 28"/>
          <p:cNvSpPr/>
          <p:nvPr/>
        </p:nvSpPr>
        <p:spPr>
          <a:xfrm>
            <a:off x="7452360" y="212140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UCI BRFSS-2015, target framing</a:t>
            </a:r>
            <a:endParaRPr lang="en-US" sz="1100" dirty="0"/>
          </a:p>
        </p:txBody>
      </p:sp>
      <p:sp>
        <p:nvSpPr>
          <p:cNvPr id="31" name="Shape 29"/>
          <p:cNvSpPr/>
          <p:nvPr/>
        </p:nvSpPr>
        <p:spPr>
          <a:xfrm>
            <a:off x="5943600" y="242316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32" name="Text 30"/>
          <p:cNvSpPr/>
          <p:nvPr/>
        </p:nvSpPr>
        <p:spPr>
          <a:xfrm>
            <a:off x="5943600" y="24231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6355080" y="239572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3–4</a:t>
            </a:r>
            <a:endParaRPr lang="en-US" sz="1000" dirty="0"/>
          </a:p>
        </p:txBody>
      </p:sp>
      <p:sp>
        <p:nvSpPr>
          <p:cNvPr id="34" name="Text 32"/>
          <p:cNvSpPr/>
          <p:nvPr/>
        </p:nvSpPr>
        <p:spPr>
          <a:xfrm>
            <a:off x="7452360" y="239572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Cleaning &amp; EDA</a:t>
            </a:r>
            <a:endParaRPr lang="en-US" sz="1300" dirty="0"/>
          </a:p>
        </p:txBody>
      </p:sp>
      <p:sp>
        <p:nvSpPr>
          <p:cNvPr id="35" name="Text 33"/>
          <p:cNvSpPr/>
          <p:nvPr/>
        </p:nvSpPr>
        <p:spPr>
          <a:xfrm>
            <a:off x="7452360" y="262432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Dedup → 229,787 rows; correlation</a:t>
            </a:r>
            <a:endParaRPr lang="en-US" sz="1100" dirty="0"/>
          </a:p>
        </p:txBody>
      </p:sp>
      <p:sp>
        <p:nvSpPr>
          <p:cNvPr id="36" name="Shape 34"/>
          <p:cNvSpPr/>
          <p:nvPr/>
        </p:nvSpPr>
        <p:spPr>
          <a:xfrm>
            <a:off x="5943600" y="292608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37" name="Text 35"/>
          <p:cNvSpPr/>
          <p:nvPr/>
        </p:nvSpPr>
        <p:spPr>
          <a:xfrm>
            <a:off x="5943600" y="29260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6"/>
          <p:cNvSpPr/>
          <p:nvPr/>
        </p:nvSpPr>
        <p:spPr>
          <a:xfrm>
            <a:off x="6355080" y="289864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5–6</a:t>
            </a:r>
            <a:endParaRPr lang="en-US" sz="1000" dirty="0"/>
          </a:p>
        </p:txBody>
      </p:sp>
      <p:sp>
        <p:nvSpPr>
          <p:cNvPr id="39" name="Text 37"/>
          <p:cNvSpPr/>
          <p:nvPr/>
        </p:nvSpPr>
        <p:spPr>
          <a:xfrm>
            <a:off x="7452360" y="289864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Pre-processing &amp; SMOTE</a:t>
            </a:r>
            <a:endParaRPr lang="en-US" sz="1300" dirty="0"/>
          </a:p>
        </p:txBody>
      </p:sp>
      <p:sp>
        <p:nvSpPr>
          <p:cNvPr id="40" name="Text 38"/>
          <p:cNvSpPr/>
          <p:nvPr/>
        </p:nvSpPr>
        <p:spPr>
          <a:xfrm>
            <a:off x="7452360" y="312724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80/20 split, scale on train only</a:t>
            </a:r>
            <a:endParaRPr lang="en-US" sz="1100" dirty="0"/>
          </a:p>
        </p:txBody>
      </p:sp>
      <p:sp>
        <p:nvSpPr>
          <p:cNvPr id="41" name="Shape 39"/>
          <p:cNvSpPr/>
          <p:nvPr/>
        </p:nvSpPr>
        <p:spPr>
          <a:xfrm>
            <a:off x="5943600" y="342900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42" name="Text 40"/>
          <p:cNvSpPr/>
          <p:nvPr/>
        </p:nvSpPr>
        <p:spPr>
          <a:xfrm>
            <a:off x="5943600" y="34290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3" name="Text 41"/>
          <p:cNvSpPr/>
          <p:nvPr/>
        </p:nvSpPr>
        <p:spPr>
          <a:xfrm>
            <a:off x="6355080" y="340156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7–8</a:t>
            </a:r>
            <a:endParaRPr lang="en-US" sz="1000" dirty="0"/>
          </a:p>
        </p:txBody>
      </p:sp>
      <p:sp>
        <p:nvSpPr>
          <p:cNvPr id="44" name="Text 42"/>
          <p:cNvSpPr/>
          <p:nvPr/>
        </p:nvSpPr>
        <p:spPr>
          <a:xfrm>
            <a:off x="7452360" y="340156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Modeling &amp; 5-fold CV</a:t>
            </a:r>
            <a:endParaRPr lang="en-US" sz="1300" dirty="0"/>
          </a:p>
        </p:txBody>
      </p:sp>
      <p:sp>
        <p:nvSpPr>
          <p:cNvPr id="45" name="Text 43"/>
          <p:cNvSpPr/>
          <p:nvPr/>
        </p:nvSpPr>
        <p:spPr>
          <a:xfrm>
            <a:off x="7452360" y="363016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6 model families incl. XGBoost</a:t>
            </a:r>
            <a:endParaRPr lang="en-US" sz="1100" dirty="0"/>
          </a:p>
        </p:txBody>
      </p:sp>
      <p:sp>
        <p:nvSpPr>
          <p:cNvPr id="46" name="Shape 44"/>
          <p:cNvSpPr/>
          <p:nvPr/>
        </p:nvSpPr>
        <p:spPr>
          <a:xfrm>
            <a:off x="5943600" y="393192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47" name="Text 45"/>
          <p:cNvSpPr/>
          <p:nvPr/>
        </p:nvSpPr>
        <p:spPr>
          <a:xfrm>
            <a:off x="5943600" y="39319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8" name="Text 46"/>
          <p:cNvSpPr/>
          <p:nvPr/>
        </p:nvSpPr>
        <p:spPr>
          <a:xfrm>
            <a:off x="6355080" y="390448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9</a:t>
            </a:r>
            <a:endParaRPr lang="en-US" sz="1000" dirty="0"/>
          </a:p>
        </p:txBody>
      </p:sp>
      <p:sp>
        <p:nvSpPr>
          <p:cNvPr id="49" name="Text 47"/>
          <p:cNvSpPr/>
          <p:nvPr/>
        </p:nvSpPr>
        <p:spPr>
          <a:xfrm>
            <a:off x="7452360" y="390448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Fairness, calibration, SHAP</a:t>
            </a:r>
            <a:endParaRPr lang="en-US" sz="1300" dirty="0"/>
          </a:p>
        </p:txBody>
      </p:sp>
      <p:sp>
        <p:nvSpPr>
          <p:cNvPr id="50" name="Text 48"/>
          <p:cNvSpPr/>
          <p:nvPr/>
        </p:nvSpPr>
        <p:spPr>
          <a:xfrm>
            <a:off x="7452360" y="413308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Threshold tuning + bias audit</a:t>
            </a:r>
            <a:endParaRPr lang="en-US" sz="1100" dirty="0"/>
          </a:p>
        </p:txBody>
      </p:sp>
      <p:sp>
        <p:nvSpPr>
          <p:cNvPr id="51" name="Shape 49"/>
          <p:cNvSpPr/>
          <p:nvPr/>
        </p:nvSpPr>
        <p:spPr>
          <a:xfrm>
            <a:off x="5943600" y="4434840"/>
            <a:ext cx="292608" cy="292608"/>
          </a:xfrm>
          <a:prstGeom prst="ellipse">
            <a:avLst/>
          </a:prstGeom>
          <a:solidFill>
            <a:srgbClr val="E2725B"/>
          </a:solidFill>
          <a:ln w="12700">
            <a:solidFill>
              <a:srgbClr val="E2725B"/>
            </a:solidFill>
            <a:prstDash val="solid"/>
          </a:ln>
        </p:spPr>
        <p:txBody>
          <a:bodyPr/>
          <a:lstStyle/>
          <a:p>
            <a:endParaRPr lang="en-US" dirty="0"/>
          </a:p>
        </p:txBody>
      </p:sp>
      <p:sp>
        <p:nvSpPr>
          <p:cNvPr id="52" name="Text 50"/>
          <p:cNvSpPr/>
          <p:nvPr/>
        </p:nvSpPr>
        <p:spPr>
          <a:xfrm>
            <a:off x="5943600" y="44348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3" name="Text 51"/>
          <p:cNvSpPr/>
          <p:nvPr/>
        </p:nvSpPr>
        <p:spPr>
          <a:xfrm>
            <a:off x="6355080" y="4407408"/>
            <a:ext cx="1097280" cy="320040"/>
          </a:xfrm>
          <a:prstGeom prst="rect">
            <a:avLst/>
          </a:prstGeom>
          <a:noFill/>
          <a:ln/>
        </p:spPr>
        <p:txBody>
          <a:bodyPr wrap="square" lIns="0" tIns="0" rIns="0" bIns="0" rtlCol="0" anchor="ctr"/>
          <a:lstStyle/>
          <a:p>
            <a:pPr marL="0" indent="0">
              <a:buNone/>
            </a:pPr>
            <a:r>
              <a:rPr lang="en-US" sz="1000" b="1" kern="0" spc="200" dirty="0">
                <a:solidFill>
                  <a:srgbClr val="E2725B"/>
                </a:solidFill>
                <a:latin typeface="Calibri" pitchFamily="34" charset="0"/>
                <a:ea typeface="Calibri" pitchFamily="34" charset="-122"/>
                <a:cs typeface="Calibri" pitchFamily="34" charset="-120"/>
              </a:rPr>
              <a:t>Wk 10</a:t>
            </a:r>
            <a:endParaRPr lang="en-US" sz="1000" dirty="0"/>
          </a:p>
        </p:txBody>
      </p:sp>
      <p:sp>
        <p:nvSpPr>
          <p:cNvPr id="54" name="Text 52"/>
          <p:cNvSpPr/>
          <p:nvPr/>
        </p:nvSpPr>
        <p:spPr>
          <a:xfrm>
            <a:off x="7452360" y="4407408"/>
            <a:ext cx="4114800" cy="320040"/>
          </a:xfrm>
          <a:prstGeom prst="rect">
            <a:avLst/>
          </a:prstGeom>
          <a:noFill/>
          <a:ln/>
        </p:spPr>
        <p:txBody>
          <a:bodyPr wrap="square" lIns="0" tIns="0" rIns="0" bIns="0" rtlCol="0" anchor="ctr"/>
          <a:lstStyle/>
          <a:p>
            <a:pPr marL="0" indent="0">
              <a:buNone/>
            </a:pPr>
            <a:r>
              <a:rPr lang="en-US" sz="1300" b="1" dirty="0">
                <a:solidFill>
                  <a:srgbClr val="1A2B2C"/>
                </a:solidFill>
                <a:latin typeface="Calibri" pitchFamily="34" charset="0"/>
                <a:ea typeface="Calibri" pitchFamily="34" charset="-122"/>
                <a:cs typeface="Calibri" pitchFamily="34" charset="-120"/>
              </a:rPr>
              <a:t>Report &amp; deck</a:t>
            </a:r>
            <a:endParaRPr lang="en-US" sz="1300" dirty="0"/>
          </a:p>
        </p:txBody>
      </p:sp>
      <p:sp>
        <p:nvSpPr>
          <p:cNvPr id="55" name="Text 53"/>
          <p:cNvSpPr/>
          <p:nvPr/>
        </p:nvSpPr>
        <p:spPr>
          <a:xfrm>
            <a:off x="7452360" y="4636008"/>
            <a:ext cx="4114800" cy="274320"/>
          </a:xfrm>
          <a:prstGeom prst="rect">
            <a:avLst/>
          </a:prstGeom>
          <a:noFill/>
          <a:ln/>
        </p:spPr>
        <p:txBody>
          <a:bodyPr wrap="square" lIns="0" tIns="0" rIns="0" bIns="0" rtlCol="0" anchor="ctr"/>
          <a:lstStyle/>
          <a:p>
            <a:pPr marL="0" indent="0">
              <a:buNone/>
            </a:pPr>
            <a:r>
              <a:rPr lang="en-US" sz="1100" i="1" dirty="0">
                <a:solidFill>
                  <a:srgbClr val="4A5C5E"/>
                </a:solidFill>
                <a:latin typeface="Calibri" pitchFamily="34" charset="0"/>
                <a:ea typeface="Calibri" pitchFamily="34" charset="-122"/>
                <a:cs typeface="Calibri" pitchFamily="34" charset="-120"/>
              </a:rPr>
              <a:t>Recommendations + future work</a:t>
            </a:r>
            <a:endParaRPr lang="en-US" sz="1100" dirty="0"/>
          </a:p>
        </p:txBody>
      </p:sp>
      <p:sp>
        <p:nvSpPr>
          <p:cNvPr id="56" name="Shape 54"/>
          <p:cNvSpPr/>
          <p:nvPr/>
        </p:nvSpPr>
        <p:spPr>
          <a:xfrm>
            <a:off x="548640" y="5074920"/>
            <a:ext cx="11064240" cy="1234440"/>
          </a:xfrm>
          <a:prstGeom prst="rect">
            <a:avLst/>
          </a:prstGeom>
          <a:solidFill>
            <a:srgbClr val="F5F2EC"/>
          </a:solidFill>
          <a:ln w="6350">
            <a:solidFill>
              <a:srgbClr val="D9D2C7"/>
            </a:solidFill>
            <a:prstDash val="solid"/>
          </a:ln>
        </p:spPr>
        <p:txBody>
          <a:bodyPr/>
          <a:lstStyle/>
          <a:p>
            <a:endParaRPr lang="en-US" dirty="0"/>
          </a:p>
        </p:txBody>
      </p:sp>
      <p:sp>
        <p:nvSpPr>
          <p:cNvPr id="57" name="Text 55"/>
          <p:cNvSpPr/>
          <p:nvPr/>
        </p:nvSpPr>
        <p:spPr>
          <a:xfrm>
            <a:off x="777240" y="5166360"/>
            <a:ext cx="10058400" cy="274320"/>
          </a:xfrm>
          <a:prstGeom prst="rect">
            <a:avLst/>
          </a:prstGeom>
          <a:noFill/>
          <a:ln/>
        </p:spPr>
        <p:txBody>
          <a:bodyPr wrap="square" lIns="0" tIns="0" rIns="0" bIns="0" rtlCol="0" anchor="ctr"/>
          <a:lstStyle/>
          <a:p>
            <a:pPr marL="0" indent="0">
              <a:buNone/>
            </a:pPr>
            <a:r>
              <a:rPr lang="en-US" sz="1000" b="1" kern="0" spc="400" dirty="0">
                <a:solidFill>
                  <a:srgbClr val="E2725B"/>
                </a:solidFill>
                <a:latin typeface="Calibri" pitchFamily="34" charset="0"/>
                <a:ea typeface="Calibri" pitchFamily="34" charset="-122"/>
                <a:cs typeface="Calibri" pitchFamily="34" charset="-120"/>
              </a:rPr>
              <a:t>CHANGES TO THE ORIGINAL PLAN</a:t>
            </a:r>
            <a:endParaRPr lang="en-US" sz="1000" dirty="0"/>
          </a:p>
        </p:txBody>
      </p:sp>
      <p:sp>
        <p:nvSpPr>
          <p:cNvPr id="58" name="Text 56"/>
          <p:cNvSpPr/>
          <p:nvPr/>
        </p:nvSpPr>
        <p:spPr>
          <a:xfrm>
            <a:off x="777240" y="5440680"/>
            <a:ext cx="10515600" cy="868680"/>
          </a:xfrm>
          <a:prstGeom prst="rect">
            <a:avLst/>
          </a:prstGeom>
          <a:noFill/>
          <a:ln/>
        </p:spPr>
        <p:txBody>
          <a:bodyPr wrap="square" rtlCol="0" anchor="ctr"/>
          <a:lstStyle/>
          <a:p>
            <a:pPr marL="0" indent="0">
              <a:spcAft>
                <a:spcPts val="200"/>
              </a:spcAft>
              <a:buNone/>
            </a:pPr>
            <a:r>
              <a:rPr lang="en-US" sz="1100" b="1" dirty="0">
                <a:solidFill>
                  <a:srgbClr val="0F4C5C"/>
                </a:solidFill>
                <a:latin typeface="Calibri" pitchFamily="34" charset="0"/>
                <a:ea typeface="Calibri" pitchFamily="34" charset="-122"/>
                <a:cs typeface="Calibri" pitchFamily="34" charset="-120"/>
              </a:rPr>
              <a:t>Added  </a:t>
            </a:r>
            <a:r>
              <a:rPr lang="en-US" sz="1100" dirty="0">
                <a:solidFill>
                  <a:srgbClr val="1A2B2C"/>
                </a:solidFill>
                <a:latin typeface="Calibri" pitchFamily="34" charset="0"/>
                <a:ea typeface="Calibri" pitchFamily="34" charset="-122"/>
                <a:cs typeface="Calibri" pitchFamily="34" charset="-120"/>
              </a:rPr>
              <a:t>fairness audit (sex / age / income) after spotting subgroup gaps in early CV results.</a:t>
            </a:r>
            <a:endParaRPr lang="en-US" sz="1100" dirty="0"/>
          </a:p>
          <a:p>
            <a:pPr marL="0" indent="0">
              <a:spcAft>
                <a:spcPts val="200"/>
              </a:spcAft>
              <a:buNone/>
            </a:pPr>
            <a:r>
              <a:rPr lang="en-US" sz="1100" b="1" dirty="0">
                <a:solidFill>
                  <a:srgbClr val="0F4C5C"/>
                </a:solidFill>
                <a:latin typeface="Calibri" pitchFamily="34" charset="0"/>
                <a:ea typeface="Calibri" pitchFamily="34" charset="-122"/>
                <a:cs typeface="Calibri" pitchFamily="34" charset="-120"/>
              </a:rPr>
              <a:t>Added  </a:t>
            </a:r>
            <a:r>
              <a:rPr lang="en-US" sz="1100" dirty="0">
                <a:solidFill>
                  <a:srgbClr val="1A2B2C"/>
                </a:solidFill>
                <a:latin typeface="Calibri" pitchFamily="34" charset="0"/>
                <a:ea typeface="Calibri" pitchFamily="34" charset="-122"/>
                <a:cs typeface="Calibri" pitchFamily="34" charset="-120"/>
              </a:rPr>
              <a:t>calibration plots and SHAP attribution to defend model choice for clinical use.</a:t>
            </a:r>
            <a:endParaRPr lang="en-US" sz="1100" dirty="0"/>
          </a:p>
          <a:p>
            <a:pPr marL="0" indent="0">
              <a:spcAft>
                <a:spcPts val="200"/>
              </a:spcAft>
              <a:buNone/>
            </a:pPr>
            <a:r>
              <a:rPr lang="en-US" sz="1100" b="1" dirty="0">
                <a:solidFill>
                  <a:srgbClr val="E2725B"/>
                </a:solidFill>
                <a:latin typeface="Calibri" pitchFamily="34" charset="0"/>
                <a:ea typeface="Calibri" pitchFamily="34" charset="-122"/>
                <a:cs typeface="Calibri" pitchFamily="34" charset="-120"/>
              </a:rPr>
              <a:t>Dropped  </a:t>
            </a:r>
            <a:r>
              <a:rPr lang="en-US" sz="1100" dirty="0">
                <a:solidFill>
                  <a:srgbClr val="1A2B2C"/>
                </a:solidFill>
                <a:latin typeface="Calibri" pitchFamily="34" charset="0"/>
                <a:ea typeface="Calibri" pitchFamily="34" charset="-122"/>
                <a:cs typeface="Calibri" pitchFamily="34" charset="-120"/>
              </a:rPr>
              <a:t>manual feature engineering — engineered features gave no AUC lift on tree ensembles.</a:t>
            </a:r>
            <a:endParaRPr lang="en-US" sz="1100" dirty="0"/>
          </a:p>
        </p:txBody>
      </p:sp>
      <p:sp>
        <p:nvSpPr>
          <p:cNvPr id="59" name="Shape 57"/>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60" name="Text 58"/>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61" name="Text 59"/>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03  •  DATA PIPELINE</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From 253,680 raw rows to a leakage-safe modeling table</a:t>
            </a:r>
            <a:endParaRPr lang="en-US" sz="3000" dirty="0"/>
          </a:p>
        </p:txBody>
      </p:sp>
      <p:sp>
        <p:nvSpPr>
          <p:cNvPr id="4" name="Shape 2"/>
          <p:cNvSpPr/>
          <p:nvPr/>
        </p:nvSpPr>
        <p:spPr>
          <a:xfrm>
            <a:off x="548640" y="1508760"/>
            <a:ext cx="2081174" cy="1280160"/>
          </a:xfrm>
          <a:prstGeom prst="rect">
            <a:avLst/>
          </a:prstGeom>
          <a:solidFill>
            <a:srgbClr val="FFFFFF"/>
          </a:solidFill>
          <a:ln w="15875">
            <a:solidFill>
              <a:srgbClr val="0F4C5C"/>
            </a:solidFill>
            <a:prstDash val="solid"/>
          </a:ln>
        </p:spPr>
        <p:txBody>
          <a:bodyPr/>
          <a:lstStyle/>
          <a:p>
            <a:endParaRPr lang="en-US" dirty="0"/>
          </a:p>
        </p:txBody>
      </p:sp>
      <p:sp>
        <p:nvSpPr>
          <p:cNvPr id="5" name="Shape 3"/>
          <p:cNvSpPr/>
          <p:nvPr/>
        </p:nvSpPr>
        <p:spPr>
          <a:xfrm>
            <a:off x="548640" y="1508760"/>
            <a:ext cx="2081174" cy="292608"/>
          </a:xfrm>
          <a:prstGeom prst="rect">
            <a:avLst/>
          </a:prstGeom>
          <a:solidFill>
            <a:srgbClr val="0F4C5C"/>
          </a:solidFill>
          <a:ln w="12700">
            <a:solidFill>
              <a:srgbClr val="0F4C5C"/>
            </a:solidFill>
            <a:prstDash val="solid"/>
          </a:ln>
        </p:spPr>
        <p:txBody>
          <a:bodyPr/>
          <a:lstStyle/>
          <a:p>
            <a:endParaRPr lang="en-US" dirty="0"/>
          </a:p>
        </p:txBody>
      </p:sp>
      <p:sp>
        <p:nvSpPr>
          <p:cNvPr id="6" name="Text 4"/>
          <p:cNvSpPr/>
          <p:nvPr/>
        </p:nvSpPr>
        <p:spPr>
          <a:xfrm>
            <a:off x="640080" y="1527048"/>
            <a:ext cx="1898294" cy="256032"/>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STEP 1</a:t>
            </a:r>
            <a:endParaRPr lang="en-US" sz="900" dirty="0"/>
          </a:p>
        </p:txBody>
      </p:sp>
      <p:sp>
        <p:nvSpPr>
          <p:cNvPr id="7" name="Text 5"/>
          <p:cNvSpPr/>
          <p:nvPr/>
        </p:nvSpPr>
        <p:spPr>
          <a:xfrm>
            <a:off x="640080" y="1874520"/>
            <a:ext cx="1898294" cy="365760"/>
          </a:xfrm>
          <a:prstGeom prst="rect">
            <a:avLst/>
          </a:prstGeom>
          <a:noFill/>
          <a:ln/>
        </p:spPr>
        <p:txBody>
          <a:bodyPr wrap="square" lIns="0" tIns="0" rIns="0" bIns="0" rtlCol="0" anchor="ctr"/>
          <a:lstStyle/>
          <a:p>
            <a:pPr marL="0" indent="0">
              <a:buNone/>
            </a:pPr>
            <a:r>
              <a:rPr lang="en-US" sz="1600" b="1" dirty="0">
                <a:solidFill>
                  <a:srgbClr val="0F4C5C"/>
                </a:solidFill>
                <a:latin typeface="Georgia" pitchFamily="34" charset="0"/>
                <a:ea typeface="Georgia" pitchFamily="34" charset="-122"/>
                <a:cs typeface="Georgia" pitchFamily="34" charset="-120"/>
              </a:rPr>
              <a:t>Load</a:t>
            </a:r>
            <a:endParaRPr lang="en-US" sz="1600" dirty="0"/>
          </a:p>
        </p:txBody>
      </p:sp>
      <p:sp>
        <p:nvSpPr>
          <p:cNvPr id="8" name="Text 6"/>
          <p:cNvSpPr/>
          <p:nvPr/>
        </p:nvSpPr>
        <p:spPr>
          <a:xfrm>
            <a:off x="640080" y="2286000"/>
            <a:ext cx="1898294" cy="45720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UCI BRFSS-2015</a:t>
            </a:r>
            <a:endParaRPr lang="en-US" sz="1000" dirty="0"/>
          </a:p>
          <a:p>
            <a:pPr marL="0" indent="0">
              <a:buNone/>
            </a:pPr>
            <a:r>
              <a:rPr lang="en-US" sz="1000" dirty="0">
                <a:solidFill>
                  <a:srgbClr val="4A5C5E"/>
                </a:solidFill>
                <a:latin typeface="Calibri" pitchFamily="34" charset="0"/>
                <a:ea typeface="Calibri" pitchFamily="34" charset="-122"/>
                <a:cs typeface="Calibri" pitchFamily="34" charset="-120"/>
              </a:rPr>
              <a:t>253,680 rows × 22 cols</a:t>
            </a:r>
            <a:endParaRPr lang="en-US" sz="1000" dirty="0"/>
          </a:p>
        </p:txBody>
      </p:sp>
      <p:sp>
        <p:nvSpPr>
          <p:cNvPr id="9" name="Shape 7"/>
          <p:cNvSpPr/>
          <p:nvPr/>
        </p:nvSpPr>
        <p:spPr>
          <a:xfrm>
            <a:off x="2794406" y="1508760"/>
            <a:ext cx="2081174" cy="1280160"/>
          </a:xfrm>
          <a:prstGeom prst="rect">
            <a:avLst/>
          </a:prstGeom>
          <a:solidFill>
            <a:srgbClr val="FFFFFF"/>
          </a:solidFill>
          <a:ln w="15875">
            <a:solidFill>
              <a:srgbClr val="14758A"/>
            </a:solidFill>
            <a:prstDash val="solid"/>
          </a:ln>
        </p:spPr>
        <p:txBody>
          <a:bodyPr/>
          <a:lstStyle/>
          <a:p>
            <a:endParaRPr lang="en-US" dirty="0"/>
          </a:p>
        </p:txBody>
      </p:sp>
      <p:sp>
        <p:nvSpPr>
          <p:cNvPr id="10" name="Shape 8"/>
          <p:cNvSpPr/>
          <p:nvPr/>
        </p:nvSpPr>
        <p:spPr>
          <a:xfrm>
            <a:off x="2794406" y="1508760"/>
            <a:ext cx="2081174" cy="292608"/>
          </a:xfrm>
          <a:prstGeom prst="rect">
            <a:avLst/>
          </a:prstGeom>
          <a:solidFill>
            <a:srgbClr val="14758A"/>
          </a:solidFill>
          <a:ln w="12700">
            <a:solidFill>
              <a:srgbClr val="14758A"/>
            </a:solidFill>
            <a:prstDash val="solid"/>
          </a:ln>
        </p:spPr>
        <p:txBody>
          <a:bodyPr/>
          <a:lstStyle/>
          <a:p>
            <a:endParaRPr lang="en-US" dirty="0"/>
          </a:p>
        </p:txBody>
      </p:sp>
      <p:sp>
        <p:nvSpPr>
          <p:cNvPr id="11" name="Text 9"/>
          <p:cNvSpPr/>
          <p:nvPr/>
        </p:nvSpPr>
        <p:spPr>
          <a:xfrm>
            <a:off x="2885846" y="1527048"/>
            <a:ext cx="1898294" cy="256032"/>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STEP 2</a:t>
            </a:r>
            <a:endParaRPr lang="en-US" sz="900" dirty="0"/>
          </a:p>
        </p:txBody>
      </p:sp>
      <p:sp>
        <p:nvSpPr>
          <p:cNvPr id="12" name="Text 10"/>
          <p:cNvSpPr/>
          <p:nvPr/>
        </p:nvSpPr>
        <p:spPr>
          <a:xfrm>
            <a:off x="2885846" y="1874520"/>
            <a:ext cx="1898294" cy="365760"/>
          </a:xfrm>
          <a:prstGeom prst="rect">
            <a:avLst/>
          </a:prstGeom>
          <a:noFill/>
          <a:ln/>
        </p:spPr>
        <p:txBody>
          <a:bodyPr wrap="square" lIns="0" tIns="0" rIns="0" bIns="0" rtlCol="0" anchor="ctr"/>
          <a:lstStyle/>
          <a:p>
            <a:pPr marL="0" indent="0">
              <a:buNone/>
            </a:pPr>
            <a:r>
              <a:rPr lang="en-US" sz="1600" b="1" dirty="0">
                <a:solidFill>
                  <a:srgbClr val="0F4C5C"/>
                </a:solidFill>
                <a:latin typeface="Georgia" pitchFamily="34" charset="0"/>
                <a:ea typeface="Georgia" pitchFamily="34" charset="-122"/>
                <a:cs typeface="Georgia" pitchFamily="34" charset="-120"/>
              </a:rPr>
              <a:t>Clean</a:t>
            </a:r>
            <a:endParaRPr lang="en-US" sz="1600" dirty="0"/>
          </a:p>
        </p:txBody>
      </p:sp>
      <p:sp>
        <p:nvSpPr>
          <p:cNvPr id="13" name="Text 11"/>
          <p:cNvSpPr/>
          <p:nvPr/>
        </p:nvSpPr>
        <p:spPr>
          <a:xfrm>
            <a:off x="2885846" y="2286000"/>
            <a:ext cx="1898294" cy="45720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Dedup + type fix</a:t>
            </a:r>
            <a:endParaRPr lang="en-US" sz="1000" dirty="0"/>
          </a:p>
          <a:p>
            <a:pPr marL="0" indent="0">
              <a:buNone/>
            </a:pPr>
            <a:r>
              <a:rPr lang="en-US" sz="1000" dirty="0">
                <a:solidFill>
                  <a:srgbClr val="4A5C5E"/>
                </a:solidFill>
                <a:latin typeface="Calibri" pitchFamily="34" charset="0"/>
                <a:ea typeface="Calibri" pitchFamily="34" charset="-122"/>
                <a:cs typeface="Calibri" pitchFamily="34" charset="-120"/>
              </a:rPr>
              <a:t>→ 229,787 rows</a:t>
            </a:r>
            <a:endParaRPr lang="en-US" sz="1000" dirty="0"/>
          </a:p>
        </p:txBody>
      </p:sp>
      <p:sp>
        <p:nvSpPr>
          <p:cNvPr id="14" name="Shape 12"/>
          <p:cNvSpPr/>
          <p:nvPr/>
        </p:nvSpPr>
        <p:spPr>
          <a:xfrm>
            <a:off x="5040173" y="1508760"/>
            <a:ext cx="2081174" cy="1280160"/>
          </a:xfrm>
          <a:prstGeom prst="rect">
            <a:avLst/>
          </a:prstGeom>
          <a:solidFill>
            <a:srgbClr val="FFFFFF"/>
          </a:solidFill>
          <a:ln w="15875">
            <a:solidFill>
              <a:srgbClr val="1E8E8C"/>
            </a:solidFill>
            <a:prstDash val="solid"/>
          </a:ln>
        </p:spPr>
        <p:txBody>
          <a:bodyPr/>
          <a:lstStyle/>
          <a:p>
            <a:endParaRPr lang="en-US" dirty="0"/>
          </a:p>
        </p:txBody>
      </p:sp>
      <p:sp>
        <p:nvSpPr>
          <p:cNvPr id="15" name="Shape 13"/>
          <p:cNvSpPr/>
          <p:nvPr/>
        </p:nvSpPr>
        <p:spPr>
          <a:xfrm>
            <a:off x="5040173" y="1508760"/>
            <a:ext cx="2081174" cy="292608"/>
          </a:xfrm>
          <a:prstGeom prst="rect">
            <a:avLst/>
          </a:prstGeom>
          <a:solidFill>
            <a:srgbClr val="1E8E8C"/>
          </a:solidFill>
          <a:ln w="12700">
            <a:solidFill>
              <a:srgbClr val="1E8E8C"/>
            </a:solidFill>
            <a:prstDash val="solid"/>
          </a:ln>
        </p:spPr>
        <p:txBody>
          <a:bodyPr/>
          <a:lstStyle/>
          <a:p>
            <a:endParaRPr lang="en-US" dirty="0"/>
          </a:p>
        </p:txBody>
      </p:sp>
      <p:sp>
        <p:nvSpPr>
          <p:cNvPr id="16" name="Text 14"/>
          <p:cNvSpPr/>
          <p:nvPr/>
        </p:nvSpPr>
        <p:spPr>
          <a:xfrm>
            <a:off x="5131613" y="1527048"/>
            <a:ext cx="1898294" cy="256032"/>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STEP 3</a:t>
            </a:r>
            <a:endParaRPr lang="en-US" sz="900" dirty="0"/>
          </a:p>
        </p:txBody>
      </p:sp>
      <p:sp>
        <p:nvSpPr>
          <p:cNvPr id="17" name="Text 15"/>
          <p:cNvSpPr/>
          <p:nvPr/>
        </p:nvSpPr>
        <p:spPr>
          <a:xfrm>
            <a:off x="5131613" y="1874520"/>
            <a:ext cx="1898294" cy="365760"/>
          </a:xfrm>
          <a:prstGeom prst="rect">
            <a:avLst/>
          </a:prstGeom>
          <a:noFill/>
          <a:ln/>
        </p:spPr>
        <p:txBody>
          <a:bodyPr wrap="square" lIns="0" tIns="0" rIns="0" bIns="0" rtlCol="0" anchor="ctr"/>
          <a:lstStyle/>
          <a:p>
            <a:pPr marL="0" indent="0">
              <a:buNone/>
            </a:pPr>
            <a:r>
              <a:rPr lang="en-US" sz="1600" b="1" dirty="0">
                <a:solidFill>
                  <a:srgbClr val="0F4C5C"/>
                </a:solidFill>
                <a:latin typeface="Georgia" pitchFamily="34" charset="0"/>
                <a:ea typeface="Georgia" pitchFamily="34" charset="-122"/>
                <a:cs typeface="Georgia" pitchFamily="34" charset="-120"/>
              </a:rPr>
              <a:t>EDA</a:t>
            </a:r>
            <a:endParaRPr lang="en-US" sz="1600" dirty="0"/>
          </a:p>
        </p:txBody>
      </p:sp>
      <p:sp>
        <p:nvSpPr>
          <p:cNvPr id="18" name="Text 16"/>
          <p:cNvSpPr/>
          <p:nvPr/>
        </p:nvSpPr>
        <p:spPr>
          <a:xfrm>
            <a:off x="5131613" y="2286000"/>
            <a:ext cx="1898294" cy="45720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Class, BMI, age,</a:t>
            </a:r>
            <a:endParaRPr lang="en-US" sz="1000" dirty="0"/>
          </a:p>
          <a:p>
            <a:pPr marL="0" indent="0">
              <a:buNone/>
            </a:pPr>
            <a:r>
              <a:rPr lang="en-US" sz="1000" dirty="0">
                <a:solidFill>
                  <a:srgbClr val="4A5C5E"/>
                </a:solidFill>
                <a:latin typeface="Calibri" pitchFamily="34" charset="0"/>
                <a:ea typeface="Calibri" pitchFamily="34" charset="-122"/>
                <a:cs typeface="Calibri" pitchFamily="34" charset="-120"/>
              </a:rPr>
              <a:t>corr. matrix</a:t>
            </a:r>
            <a:endParaRPr lang="en-US" sz="1000" dirty="0"/>
          </a:p>
        </p:txBody>
      </p:sp>
      <p:sp>
        <p:nvSpPr>
          <p:cNvPr id="19" name="Shape 17"/>
          <p:cNvSpPr/>
          <p:nvPr/>
        </p:nvSpPr>
        <p:spPr>
          <a:xfrm>
            <a:off x="7285939" y="1508760"/>
            <a:ext cx="2081174" cy="1280160"/>
          </a:xfrm>
          <a:prstGeom prst="rect">
            <a:avLst/>
          </a:prstGeom>
          <a:solidFill>
            <a:srgbClr val="FFFFFF"/>
          </a:solidFill>
          <a:ln w="15875">
            <a:solidFill>
              <a:srgbClr val="14758A"/>
            </a:solidFill>
            <a:prstDash val="solid"/>
          </a:ln>
        </p:spPr>
        <p:txBody>
          <a:bodyPr/>
          <a:lstStyle/>
          <a:p>
            <a:endParaRPr lang="en-US" dirty="0"/>
          </a:p>
        </p:txBody>
      </p:sp>
      <p:sp>
        <p:nvSpPr>
          <p:cNvPr id="20" name="Shape 18"/>
          <p:cNvSpPr/>
          <p:nvPr/>
        </p:nvSpPr>
        <p:spPr>
          <a:xfrm>
            <a:off x="7285939" y="1508760"/>
            <a:ext cx="2081174" cy="292608"/>
          </a:xfrm>
          <a:prstGeom prst="rect">
            <a:avLst/>
          </a:prstGeom>
          <a:solidFill>
            <a:srgbClr val="14758A"/>
          </a:solidFill>
          <a:ln w="12700">
            <a:solidFill>
              <a:srgbClr val="14758A"/>
            </a:solidFill>
            <a:prstDash val="solid"/>
          </a:ln>
        </p:spPr>
        <p:txBody>
          <a:bodyPr/>
          <a:lstStyle/>
          <a:p>
            <a:endParaRPr lang="en-US" dirty="0"/>
          </a:p>
        </p:txBody>
      </p:sp>
      <p:sp>
        <p:nvSpPr>
          <p:cNvPr id="21" name="Text 19"/>
          <p:cNvSpPr/>
          <p:nvPr/>
        </p:nvSpPr>
        <p:spPr>
          <a:xfrm>
            <a:off x="7377379" y="1527048"/>
            <a:ext cx="1898294" cy="256032"/>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7377379" y="1874520"/>
            <a:ext cx="1898294" cy="365760"/>
          </a:xfrm>
          <a:prstGeom prst="rect">
            <a:avLst/>
          </a:prstGeom>
          <a:noFill/>
          <a:ln/>
        </p:spPr>
        <p:txBody>
          <a:bodyPr wrap="square" lIns="0" tIns="0" rIns="0" bIns="0" rtlCol="0" anchor="ctr"/>
          <a:lstStyle/>
          <a:p>
            <a:pPr marL="0" indent="0">
              <a:buNone/>
            </a:pPr>
            <a:r>
              <a:rPr lang="en-US" sz="1600" b="1" dirty="0">
                <a:solidFill>
                  <a:srgbClr val="0F4C5C"/>
                </a:solidFill>
                <a:latin typeface="Georgia" pitchFamily="34" charset="0"/>
                <a:ea typeface="Georgia" pitchFamily="34" charset="-122"/>
                <a:cs typeface="Georgia" pitchFamily="34" charset="-120"/>
              </a:rPr>
              <a:t>Split + Scale</a:t>
            </a:r>
            <a:endParaRPr lang="en-US" sz="1600" dirty="0"/>
          </a:p>
        </p:txBody>
      </p:sp>
      <p:sp>
        <p:nvSpPr>
          <p:cNvPr id="23" name="Text 21"/>
          <p:cNvSpPr/>
          <p:nvPr/>
        </p:nvSpPr>
        <p:spPr>
          <a:xfrm>
            <a:off x="7377379" y="2286000"/>
            <a:ext cx="1898294" cy="45720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80/20 stratified;</a:t>
            </a:r>
            <a:endParaRPr lang="en-US" sz="1000" dirty="0"/>
          </a:p>
          <a:p>
            <a:pPr marL="0" indent="0">
              <a:buNone/>
            </a:pPr>
            <a:r>
              <a:rPr lang="en-US" sz="1000" dirty="0">
                <a:solidFill>
                  <a:srgbClr val="4A5C5E"/>
                </a:solidFill>
                <a:latin typeface="Calibri" pitchFamily="34" charset="0"/>
                <a:ea typeface="Calibri" pitchFamily="34" charset="-122"/>
                <a:cs typeface="Calibri" pitchFamily="34" charset="-120"/>
              </a:rPr>
              <a:t>center &amp; scale on TRAIN</a:t>
            </a:r>
            <a:endParaRPr lang="en-US" sz="1000" dirty="0"/>
          </a:p>
        </p:txBody>
      </p:sp>
      <p:sp>
        <p:nvSpPr>
          <p:cNvPr id="24" name="Shape 22"/>
          <p:cNvSpPr/>
          <p:nvPr/>
        </p:nvSpPr>
        <p:spPr>
          <a:xfrm>
            <a:off x="9531706" y="1508760"/>
            <a:ext cx="2081174" cy="1280160"/>
          </a:xfrm>
          <a:prstGeom prst="rect">
            <a:avLst/>
          </a:prstGeom>
          <a:solidFill>
            <a:srgbClr val="FFFFFF"/>
          </a:solidFill>
          <a:ln w="15875">
            <a:solidFill>
              <a:srgbClr val="E2725B"/>
            </a:solidFill>
            <a:prstDash val="solid"/>
          </a:ln>
        </p:spPr>
        <p:txBody>
          <a:bodyPr/>
          <a:lstStyle/>
          <a:p>
            <a:endParaRPr lang="en-US" dirty="0"/>
          </a:p>
        </p:txBody>
      </p:sp>
      <p:sp>
        <p:nvSpPr>
          <p:cNvPr id="25" name="Shape 23"/>
          <p:cNvSpPr/>
          <p:nvPr/>
        </p:nvSpPr>
        <p:spPr>
          <a:xfrm>
            <a:off x="9531706" y="1508760"/>
            <a:ext cx="2081174" cy="292608"/>
          </a:xfrm>
          <a:prstGeom prst="rect">
            <a:avLst/>
          </a:prstGeom>
          <a:solidFill>
            <a:srgbClr val="E2725B"/>
          </a:solidFill>
          <a:ln w="12700">
            <a:solidFill>
              <a:srgbClr val="E2725B"/>
            </a:solidFill>
            <a:prstDash val="solid"/>
          </a:ln>
        </p:spPr>
        <p:txBody>
          <a:bodyPr/>
          <a:lstStyle/>
          <a:p>
            <a:endParaRPr lang="en-US" dirty="0"/>
          </a:p>
        </p:txBody>
      </p:sp>
      <p:sp>
        <p:nvSpPr>
          <p:cNvPr id="26" name="Text 24"/>
          <p:cNvSpPr/>
          <p:nvPr/>
        </p:nvSpPr>
        <p:spPr>
          <a:xfrm>
            <a:off x="9623146" y="1527048"/>
            <a:ext cx="1898294" cy="256032"/>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STEP 5</a:t>
            </a:r>
            <a:endParaRPr lang="en-US" sz="900" dirty="0"/>
          </a:p>
        </p:txBody>
      </p:sp>
      <p:sp>
        <p:nvSpPr>
          <p:cNvPr id="27" name="Text 25"/>
          <p:cNvSpPr/>
          <p:nvPr/>
        </p:nvSpPr>
        <p:spPr>
          <a:xfrm>
            <a:off x="9623146" y="1874520"/>
            <a:ext cx="1898294" cy="365760"/>
          </a:xfrm>
          <a:prstGeom prst="rect">
            <a:avLst/>
          </a:prstGeom>
          <a:noFill/>
          <a:ln/>
        </p:spPr>
        <p:txBody>
          <a:bodyPr wrap="square" lIns="0" tIns="0" rIns="0" bIns="0" rtlCol="0" anchor="ctr"/>
          <a:lstStyle/>
          <a:p>
            <a:pPr marL="0" indent="0">
              <a:buNone/>
            </a:pPr>
            <a:r>
              <a:rPr lang="en-US" sz="1600" b="1" dirty="0">
                <a:solidFill>
                  <a:srgbClr val="0F4C5C"/>
                </a:solidFill>
                <a:latin typeface="Georgia" pitchFamily="34" charset="0"/>
                <a:ea typeface="Georgia" pitchFamily="34" charset="-122"/>
                <a:cs typeface="Georgia" pitchFamily="34" charset="-120"/>
              </a:rPr>
              <a:t>SMOTE</a:t>
            </a:r>
            <a:endParaRPr lang="en-US" sz="1600" dirty="0"/>
          </a:p>
        </p:txBody>
      </p:sp>
      <p:sp>
        <p:nvSpPr>
          <p:cNvPr id="28" name="Text 26"/>
          <p:cNvSpPr/>
          <p:nvPr/>
        </p:nvSpPr>
        <p:spPr>
          <a:xfrm>
            <a:off x="9623146" y="2286000"/>
            <a:ext cx="1898294" cy="457200"/>
          </a:xfrm>
          <a:prstGeom prst="rect">
            <a:avLst/>
          </a:prstGeom>
          <a:noFill/>
          <a:ln/>
        </p:spPr>
        <p:txBody>
          <a:bodyPr wrap="square" lIns="0" tIns="0" rIns="0" bIns="0" rtlCol="0" anchor="ctr"/>
          <a:lstStyle/>
          <a:p>
            <a:pPr marL="0" indent="0">
              <a:buNone/>
            </a:pPr>
            <a:r>
              <a:rPr lang="en-US" sz="1000" dirty="0">
                <a:solidFill>
                  <a:srgbClr val="4A5C5E"/>
                </a:solidFill>
                <a:latin typeface="Calibri" pitchFamily="34" charset="0"/>
                <a:ea typeface="Calibri" pitchFamily="34" charset="-122"/>
                <a:cs typeface="Calibri" pitchFamily="34" charset="-120"/>
              </a:rPr>
              <a:t>Synthetic Yes-class</a:t>
            </a:r>
            <a:endParaRPr lang="en-US" sz="1000" dirty="0"/>
          </a:p>
          <a:p>
            <a:pPr marL="0" indent="0">
              <a:buNone/>
            </a:pPr>
            <a:r>
              <a:rPr lang="en-US" sz="1000" dirty="0">
                <a:solidFill>
                  <a:srgbClr val="4A5C5E"/>
                </a:solidFill>
                <a:latin typeface="Calibri" pitchFamily="34" charset="0"/>
                <a:ea typeface="Calibri" pitchFamily="34" charset="-122"/>
                <a:cs typeface="Calibri" pitchFamily="34" charset="-120"/>
              </a:rPr>
              <a:t>on TRAIN only</a:t>
            </a:r>
            <a:endParaRPr lang="en-US" sz="1000" dirty="0"/>
          </a:p>
        </p:txBody>
      </p:sp>
      <p:sp>
        <p:nvSpPr>
          <p:cNvPr id="29" name="Text 27"/>
          <p:cNvSpPr/>
          <p:nvPr/>
        </p:nvSpPr>
        <p:spPr>
          <a:xfrm>
            <a:off x="2629814" y="2011680"/>
            <a:ext cx="164592" cy="457200"/>
          </a:xfrm>
          <a:prstGeom prst="rect">
            <a:avLst/>
          </a:prstGeom>
          <a:noFill/>
          <a:ln/>
        </p:spPr>
        <p:txBody>
          <a:bodyPr wrap="square" lIns="0" tIns="0" rIns="0" bIns="0" rtlCol="0" anchor="ctr"/>
          <a:lstStyle/>
          <a:p>
            <a:pPr marL="0" indent="0" algn="ctr">
              <a:buNone/>
            </a:pPr>
            <a:r>
              <a:rPr lang="en-US" sz="2200" b="1" dirty="0">
                <a:solidFill>
                  <a:srgbClr val="E2725B"/>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4875581" y="2011680"/>
            <a:ext cx="164592" cy="457200"/>
          </a:xfrm>
          <a:prstGeom prst="rect">
            <a:avLst/>
          </a:prstGeom>
          <a:noFill/>
          <a:ln/>
        </p:spPr>
        <p:txBody>
          <a:bodyPr wrap="square" lIns="0" tIns="0" rIns="0" bIns="0" rtlCol="0" anchor="ctr"/>
          <a:lstStyle/>
          <a:p>
            <a:pPr marL="0" indent="0" algn="ctr">
              <a:buNone/>
            </a:pPr>
            <a:r>
              <a:rPr lang="en-US" sz="2200" b="1" dirty="0">
                <a:solidFill>
                  <a:srgbClr val="E2725B"/>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7121347" y="2011680"/>
            <a:ext cx="164592" cy="457200"/>
          </a:xfrm>
          <a:prstGeom prst="rect">
            <a:avLst/>
          </a:prstGeom>
          <a:noFill/>
          <a:ln/>
        </p:spPr>
        <p:txBody>
          <a:bodyPr wrap="square" lIns="0" tIns="0" rIns="0" bIns="0" rtlCol="0" anchor="ctr"/>
          <a:lstStyle/>
          <a:p>
            <a:pPr marL="0" indent="0" algn="ctr">
              <a:buNone/>
            </a:pPr>
            <a:r>
              <a:rPr lang="en-US" sz="2200" b="1" dirty="0">
                <a:solidFill>
                  <a:srgbClr val="E2725B"/>
                </a:solidFill>
                <a:latin typeface="Calibri" pitchFamily="34" charset="0"/>
                <a:ea typeface="Calibri" pitchFamily="34" charset="-122"/>
                <a:cs typeface="Calibri" pitchFamily="34" charset="-120"/>
              </a:rPr>
              <a:t>›</a:t>
            </a:r>
            <a:endParaRPr lang="en-US" sz="2200" dirty="0"/>
          </a:p>
        </p:txBody>
      </p:sp>
      <p:sp>
        <p:nvSpPr>
          <p:cNvPr id="32" name="Text 30"/>
          <p:cNvSpPr/>
          <p:nvPr/>
        </p:nvSpPr>
        <p:spPr>
          <a:xfrm>
            <a:off x="9367114" y="2011680"/>
            <a:ext cx="164592" cy="457200"/>
          </a:xfrm>
          <a:prstGeom prst="rect">
            <a:avLst/>
          </a:prstGeom>
          <a:noFill/>
          <a:ln/>
        </p:spPr>
        <p:txBody>
          <a:bodyPr wrap="square" lIns="0" tIns="0" rIns="0" bIns="0" rtlCol="0" anchor="ctr"/>
          <a:lstStyle/>
          <a:p>
            <a:pPr marL="0" indent="0" algn="ctr">
              <a:buNone/>
            </a:pPr>
            <a:r>
              <a:rPr lang="en-US" sz="2200" b="1" dirty="0">
                <a:solidFill>
                  <a:srgbClr val="E2725B"/>
                </a:solidFill>
                <a:latin typeface="Calibri" pitchFamily="34" charset="0"/>
                <a:ea typeface="Calibri" pitchFamily="34" charset="-122"/>
                <a:cs typeface="Calibri" pitchFamily="34" charset="-120"/>
              </a:rPr>
              <a:t>›</a:t>
            </a:r>
            <a:endParaRPr lang="en-US" sz="2200" dirty="0"/>
          </a:p>
        </p:txBody>
      </p:sp>
      <p:sp>
        <p:nvSpPr>
          <p:cNvPr id="33" name="Shape 31"/>
          <p:cNvSpPr/>
          <p:nvPr/>
        </p:nvSpPr>
        <p:spPr>
          <a:xfrm>
            <a:off x="548640" y="3108960"/>
            <a:ext cx="3566160" cy="1417320"/>
          </a:xfrm>
          <a:prstGeom prst="rect">
            <a:avLst/>
          </a:prstGeom>
          <a:solidFill>
            <a:srgbClr val="F5F2EC"/>
          </a:solidFill>
          <a:ln w="6350">
            <a:solidFill>
              <a:srgbClr val="D9D2C7"/>
            </a:solidFill>
            <a:prstDash val="solid"/>
          </a:ln>
        </p:spPr>
        <p:txBody>
          <a:bodyPr/>
          <a:lstStyle/>
          <a:p>
            <a:endParaRPr lang="en-US" dirty="0"/>
          </a:p>
        </p:txBody>
      </p:sp>
      <p:sp>
        <p:nvSpPr>
          <p:cNvPr id="34" name="Shape 32"/>
          <p:cNvSpPr/>
          <p:nvPr/>
        </p:nvSpPr>
        <p:spPr>
          <a:xfrm>
            <a:off x="548640" y="3108960"/>
            <a:ext cx="91440" cy="1417320"/>
          </a:xfrm>
          <a:prstGeom prst="rect">
            <a:avLst/>
          </a:prstGeom>
          <a:solidFill>
            <a:srgbClr val="E2725B"/>
          </a:solidFill>
          <a:ln w="12700">
            <a:solidFill>
              <a:srgbClr val="E2725B"/>
            </a:solidFill>
            <a:prstDash val="solid"/>
          </a:ln>
        </p:spPr>
        <p:txBody>
          <a:bodyPr/>
          <a:lstStyle/>
          <a:p>
            <a:endParaRPr lang="en-US" dirty="0"/>
          </a:p>
        </p:txBody>
      </p:sp>
      <p:sp>
        <p:nvSpPr>
          <p:cNvPr id="35" name="Text 33"/>
          <p:cNvSpPr/>
          <p:nvPr/>
        </p:nvSpPr>
        <p:spPr>
          <a:xfrm>
            <a:off x="777240" y="3246120"/>
            <a:ext cx="3200400" cy="411480"/>
          </a:xfrm>
          <a:prstGeom prst="rect">
            <a:avLst/>
          </a:prstGeom>
          <a:noFill/>
          <a:ln/>
        </p:spPr>
        <p:txBody>
          <a:bodyPr wrap="square" lIns="0" tIns="0" rIns="0" bIns="0" rtlCol="0" anchor="ctr"/>
          <a:lstStyle/>
          <a:p>
            <a:pPr marL="0" indent="0">
              <a:buNone/>
            </a:pPr>
            <a:r>
              <a:rPr lang="en-US" sz="1250" b="1" dirty="0">
                <a:solidFill>
                  <a:srgbClr val="0F4C5C"/>
                </a:solidFill>
                <a:latin typeface="Calibri" pitchFamily="34" charset="0"/>
                <a:ea typeface="Calibri" pitchFamily="34" charset="-122"/>
                <a:cs typeface="Calibri" pitchFamily="34" charset="-120"/>
              </a:rPr>
              <a:t>Issue: 83% / 17% class imbalance</a:t>
            </a:r>
            <a:endParaRPr lang="en-US" sz="1250" dirty="0"/>
          </a:p>
        </p:txBody>
      </p:sp>
      <p:sp>
        <p:nvSpPr>
          <p:cNvPr id="36" name="Text 34"/>
          <p:cNvSpPr/>
          <p:nvPr/>
        </p:nvSpPr>
        <p:spPr>
          <a:xfrm>
            <a:off x="777240" y="3657600"/>
            <a:ext cx="3200400" cy="86868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A naive 'predict No' baseline already scores 83% accuracy. We chose AUC + recall as primary metrics and applied SMOTE (k=5) to the training set only.</a:t>
            </a:r>
            <a:endParaRPr lang="en-US" sz="1050" dirty="0"/>
          </a:p>
        </p:txBody>
      </p:sp>
      <p:sp>
        <p:nvSpPr>
          <p:cNvPr id="37" name="Shape 35"/>
          <p:cNvSpPr/>
          <p:nvPr/>
        </p:nvSpPr>
        <p:spPr>
          <a:xfrm>
            <a:off x="4297680" y="3108960"/>
            <a:ext cx="3566160" cy="1417320"/>
          </a:xfrm>
          <a:prstGeom prst="rect">
            <a:avLst/>
          </a:prstGeom>
          <a:solidFill>
            <a:srgbClr val="F5F2EC"/>
          </a:solidFill>
          <a:ln w="6350">
            <a:solidFill>
              <a:srgbClr val="D9D2C7"/>
            </a:solidFill>
            <a:prstDash val="solid"/>
          </a:ln>
        </p:spPr>
        <p:txBody>
          <a:bodyPr/>
          <a:lstStyle/>
          <a:p>
            <a:endParaRPr lang="en-US" dirty="0"/>
          </a:p>
        </p:txBody>
      </p:sp>
      <p:sp>
        <p:nvSpPr>
          <p:cNvPr id="38" name="Shape 36"/>
          <p:cNvSpPr/>
          <p:nvPr/>
        </p:nvSpPr>
        <p:spPr>
          <a:xfrm>
            <a:off x="4297680" y="3108960"/>
            <a:ext cx="91440" cy="1417320"/>
          </a:xfrm>
          <a:prstGeom prst="rect">
            <a:avLst/>
          </a:prstGeom>
          <a:solidFill>
            <a:srgbClr val="14758A"/>
          </a:solidFill>
          <a:ln w="12700">
            <a:solidFill>
              <a:srgbClr val="14758A"/>
            </a:solidFill>
            <a:prstDash val="solid"/>
          </a:ln>
        </p:spPr>
        <p:txBody>
          <a:bodyPr/>
          <a:lstStyle/>
          <a:p>
            <a:endParaRPr lang="en-US" dirty="0"/>
          </a:p>
        </p:txBody>
      </p:sp>
      <p:sp>
        <p:nvSpPr>
          <p:cNvPr id="39" name="Text 37"/>
          <p:cNvSpPr/>
          <p:nvPr/>
        </p:nvSpPr>
        <p:spPr>
          <a:xfrm>
            <a:off x="4526280" y="3246120"/>
            <a:ext cx="3200400" cy="411480"/>
          </a:xfrm>
          <a:prstGeom prst="rect">
            <a:avLst/>
          </a:prstGeom>
          <a:noFill/>
          <a:ln/>
        </p:spPr>
        <p:txBody>
          <a:bodyPr wrap="square" lIns="0" tIns="0" rIns="0" bIns="0" rtlCol="0" anchor="ctr"/>
          <a:lstStyle/>
          <a:p>
            <a:pPr marL="0" indent="0">
              <a:buNone/>
            </a:pPr>
            <a:r>
              <a:rPr lang="en-US" sz="1250" b="1" dirty="0">
                <a:solidFill>
                  <a:srgbClr val="0F4C5C"/>
                </a:solidFill>
                <a:latin typeface="Calibri" pitchFamily="34" charset="0"/>
                <a:ea typeface="Calibri" pitchFamily="34" charset="-122"/>
                <a:cs typeface="Calibri" pitchFamily="34" charset="-120"/>
              </a:rPr>
              <a:t>Discovery: zero missing values, ~9% duplicates</a:t>
            </a:r>
            <a:endParaRPr lang="en-US" sz="1250" dirty="0"/>
          </a:p>
        </p:txBody>
      </p:sp>
      <p:sp>
        <p:nvSpPr>
          <p:cNvPr id="40" name="Text 38"/>
          <p:cNvSpPr/>
          <p:nvPr/>
        </p:nvSpPr>
        <p:spPr>
          <a:xfrm>
            <a:off x="4526280" y="3657600"/>
            <a:ext cx="3200400" cy="86868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Survey design enforces complete responses. dplyr::distinct() removed 23,893 exact duplicate rows that would have inflated CV scores.</a:t>
            </a:r>
            <a:endParaRPr lang="en-US" sz="1050" dirty="0"/>
          </a:p>
        </p:txBody>
      </p:sp>
      <p:sp>
        <p:nvSpPr>
          <p:cNvPr id="41" name="Shape 39"/>
          <p:cNvSpPr/>
          <p:nvPr/>
        </p:nvSpPr>
        <p:spPr>
          <a:xfrm>
            <a:off x="8046720" y="3108960"/>
            <a:ext cx="3566160" cy="1417320"/>
          </a:xfrm>
          <a:prstGeom prst="rect">
            <a:avLst/>
          </a:prstGeom>
          <a:solidFill>
            <a:srgbClr val="F5F2EC"/>
          </a:solidFill>
          <a:ln w="6350">
            <a:solidFill>
              <a:srgbClr val="D9D2C7"/>
            </a:solidFill>
            <a:prstDash val="solid"/>
          </a:ln>
        </p:spPr>
        <p:txBody>
          <a:bodyPr/>
          <a:lstStyle/>
          <a:p>
            <a:endParaRPr lang="en-US" dirty="0"/>
          </a:p>
        </p:txBody>
      </p:sp>
      <p:sp>
        <p:nvSpPr>
          <p:cNvPr id="42" name="Shape 40"/>
          <p:cNvSpPr/>
          <p:nvPr/>
        </p:nvSpPr>
        <p:spPr>
          <a:xfrm>
            <a:off x="8046720" y="3108960"/>
            <a:ext cx="91440" cy="1417320"/>
          </a:xfrm>
          <a:prstGeom prst="rect">
            <a:avLst/>
          </a:prstGeom>
          <a:solidFill>
            <a:srgbClr val="0F4C5C"/>
          </a:solidFill>
          <a:ln w="12700">
            <a:solidFill>
              <a:srgbClr val="0F4C5C"/>
            </a:solidFill>
            <a:prstDash val="solid"/>
          </a:ln>
        </p:spPr>
        <p:txBody>
          <a:bodyPr/>
          <a:lstStyle/>
          <a:p>
            <a:endParaRPr lang="en-US" dirty="0"/>
          </a:p>
        </p:txBody>
      </p:sp>
      <p:sp>
        <p:nvSpPr>
          <p:cNvPr id="43" name="Text 41"/>
          <p:cNvSpPr/>
          <p:nvPr/>
        </p:nvSpPr>
        <p:spPr>
          <a:xfrm>
            <a:off x="8275320" y="3246120"/>
            <a:ext cx="3200400" cy="411480"/>
          </a:xfrm>
          <a:prstGeom prst="rect">
            <a:avLst/>
          </a:prstGeom>
          <a:noFill/>
          <a:ln/>
        </p:spPr>
        <p:txBody>
          <a:bodyPr wrap="square" lIns="0" tIns="0" rIns="0" bIns="0" rtlCol="0" anchor="ctr"/>
          <a:lstStyle/>
          <a:p>
            <a:pPr marL="0" indent="0">
              <a:buNone/>
            </a:pPr>
            <a:r>
              <a:rPr lang="en-US" sz="1250" b="1" dirty="0">
                <a:solidFill>
                  <a:srgbClr val="0F4C5C"/>
                </a:solidFill>
                <a:latin typeface="Calibri" pitchFamily="34" charset="0"/>
                <a:ea typeface="Calibri" pitchFamily="34" charset="-122"/>
                <a:cs typeface="Calibri" pitchFamily="34" charset="-120"/>
              </a:rPr>
              <a:t>Decision: scale fit on TRAIN only</a:t>
            </a:r>
            <a:endParaRPr lang="en-US" sz="1250" dirty="0"/>
          </a:p>
        </p:txBody>
      </p:sp>
      <p:sp>
        <p:nvSpPr>
          <p:cNvPr id="44" name="Text 42"/>
          <p:cNvSpPr/>
          <p:nvPr/>
        </p:nvSpPr>
        <p:spPr>
          <a:xfrm>
            <a:off x="8275320" y="3657600"/>
            <a:ext cx="3200400" cy="86868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preProcess() parameters were learned on the 80% partition and applied to test. Strict anti-leakage; necessary for unbiased AUC.</a:t>
            </a:r>
            <a:endParaRPr lang="en-US" sz="1050" dirty="0"/>
          </a:p>
        </p:txBody>
      </p:sp>
      <p:sp>
        <p:nvSpPr>
          <p:cNvPr id="45" name="Shape 43"/>
          <p:cNvSpPr/>
          <p:nvPr/>
        </p:nvSpPr>
        <p:spPr>
          <a:xfrm>
            <a:off x="548640" y="4754880"/>
            <a:ext cx="11064240" cy="1554480"/>
          </a:xfrm>
          <a:prstGeom prst="rect">
            <a:avLst/>
          </a:prstGeom>
          <a:solidFill>
            <a:srgbClr val="0F4C5C"/>
          </a:solidFill>
          <a:ln w="12700">
            <a:solidFill>
              <a:srgbClr val="0F4C5C"/>
            </a:solidFill>
            <a:prstDash val="solid"/>
          </a:ln>
        </p:spPr>
        <p:txBody>
          <a:bodyPr/>
          <a:lstStyle/>
          <a:p>
            <a:endParaRPr lang="en-US" dirty="0"/>
          </a:p>
        </p:txBody>
      </p:sp>
      <p:sp>
        <p:nvSpPr>
          <p:cNvPr id="46" name="Text 44"/>
          <p:cNvSpPr/>
          <p:nvPr/>
        </p:nvSpPr>
        <p:spPr>
          <a:xfrm>
            <a:off x="777240" y="4846320"/>
            <a:ext cx="5760720" cy="274320"/>
          </a:xfrm>
          <a:prstGeom prst="rect">
            <a:avLst/>
          </a:prstGeom>
          <a:noFill/>
          <a:ln/>
        </p:spPr>
        <p:txBody>
          <a:bodyPr wrap="square" lIns="0" tIns="0" rIns="0" bIns="0" rtlCol="0" anchor="ctr"/>
          <a:lstStyle/>
          <a:p>
            <a:pPr marL="0" indent="0">
              <a:buNone/>
            </a:pPr>
            <a:r>
              <a:rPr lang="en-US" sz="1000" b="1" kern="0" spc="300" dirty="0">
                <a:solidFill>
                  <a:srgbClr val="E2725B"/>
                </a:solidFill>
                <a:latin typeface="Calibri" pitchFamily="34" charset="0"/>
                <a:ea typeface="Calibri" pitchFamily="34" charset="-122"/>
                <a:cs typeface="Calibri" pitchFamily="34" charset="-120"/>
              </a:rPr>
              <a:t>UNSUPERVISED CHECK  •  CORRELATION</a:t>
            </a:r>
            <a:endParaRPr lang="en-US" sz="1000" dirty="0"/>
          </a:p>
        </p:txBody>
      </p:sp>
      <p:sp>
        <p:nvSpPr>
          <p:cNvPr id="47" name="Text 45"/>
          <p:cNvSpPr/>
          <p:nvPr/>
        </p:nvSpPr>
        <p:spPr>
          <a:xfrm>
            <a:off x="777240" y="5120640"/>
            <a:ext cx="5760720" cy="11430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Strongest pair: GenHlth ↔ PhysHlth (r ≈ 0.52). Income ↔ Education (r ≈ 0.42). No |r| &gt; 0.55 - multicollinearity not a concern, all 21 raw features kept for modeling.</a:t>
            </a:r>
            <a:endParaRPr lang="en-US" sz="1200" dirty="0"/>
          </a:p>
        </p:txBody>
      </p:sp>
      <p:pic>
        <p:nvPicPr>
          <p:cNvPr id="48" name="Image 0" descr="deck_assets/corr.jpg"/>
          <p:cNvPicPr>
            <a:picLocks noChangeAspect="1"/>
          </p:cNvPicPr>
          <p:nvPr/>
        </p:nvPicPr>
        <p:blipFill>
          <a:blip r:embed="rId3"/>
          <a:srcRect/>
          <a:stretch/>
        </p:blipFill>
        <p:spPr>
          <a:xfrm>
            <a:off x="6766560" y="4846320"/>
            <a:ext cx="4709160" cy="1417320"/>
          </a:xfrm>
          <a:prstGeom prst="rect">
            <a:avLst/>
          </a:prstGeom>
        </p:spPr>
      </p:pic>
      <p:sp>
        <p:nvSpPr>
          <p:cNvPr id="49" name="Shape 46"/>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50" name="Text 47"/>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51" name="Text 48"/>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04  •  EXPLORATORY ANALYSIS</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Three patterns that drove every modeling decision</a:t>
            </a:r>
            <a:endParaRPr lang="en-US" sz="3000" dirty="0"/>
          </a:p>
        </p:txBody>
      </p:sp>
      <p:sp>
        <p:nvSpPr>
          <p:cNvPr id="4" name="Shape 2"/>
          <p:cNvSpPr/>
          <p:nvPr/>
        </p:nvSpPr>
        <p:spPr>
          <a:xfrm>
            <a:off x="548640" y="1463040"/>
            <a:ext cx="3566160" cy="2926080"/>
          </a:xfrm>
          <a:prstGeom prst="rect">
            <a:avLst/>
          </a:prstGeom>
          <a:solidFill>
            <a:srgbClr val="F5F2EC"/>
          </a:solidFill>
          <a:ln w="6350">
            <a:solidFill>
              <a:srgbClr val="D9D2C7"/>
            </a:solidFill>
            <a:prstDash val="solid"/>
          </a:ln>
        </p:spPr>
        <p:txBody>
          <a:bodyPr/>
          <a:lstStyle/>
          <a:p>
            <a:endParaRPr lang="en-US" dirty="0"/>
          </a:p>
        </p:txBody>
      </p:sp>
      <p:pic>
        <p:nvPicPr>
          <p:cNvPr id="5" name="Image 0" descr="deck_assets/class_dist.jpg"/>
          <p:cNvPicPr>
            <a:picLocks noChangeAspect="1"/>
          </p:cNvPicPr>
          <p:nvPr/>
        </p:nvPicPr>
        <p:blipFill>
          <a:blip r:embed="rId3"/>
          <a:srcRect/>
          <a:stretch/>
        </p:blipFill>
        <p:spPr>
          <a:xfrm>
            <a:off x="685800" y="1600200"/>
            <a:ext cx="3291840" cy="2651760"/>
          </a:xfrm>
          <a:prstGeom prst="rect">
            <a:avLst/>
          </a:prstGeom>
        </p:spPr>
      </p:pic>
      <p:sp>
        <p:nvSpPr>
          <p:cNvPr id="6" name="Text 3"/>
          <p:cNvSpPr/>
          <p:nvPr/>
        </p:nvSpPr>
        <p:spPr>
          <a:xfrm>
            <a:off x="548640" y="4526280"/>
            <a:ext cx="3566160" cy="411480"/>
          </a:xfrm>
          <a:prstGeom prst="rect">
            <a:avLst/>
          </a:prstGeom>
          <a:noFill/>
          <a:ln/>
        </p:spPr>
        <p:txBody>
          <a:bodyPr wrap="square" lIns="0" tIns="0" rIns="0" bIns="0" rtlCol="0" anchor="ctr"/>
          <a:lstStyle/>
          <a:p>
            <a:pPr marL="0" indent="0">
              <a:buNone/>
            </a:pPr>
            <a:r>
              <a:rPr lang="en-US" sz="1350" b="1" dirty="0">
                <a:solidFill>
                  <a:srgbClr val="0F4C5C"/>
                </a:solidFill>
                <a:latin typeface="Calibri" pitchFamily="34" charset="0"/>
                <a:ea typeface="Calibri" pitchFamily="34" charset="-122"/>
                <a:cs typeface="Calibri" pitchFamily="34" charset="-120"/>
              </a:rPr>
              <a:t>Severe class imbalance</a:t>
            </a:r>
            <a:endParaRPr lang="en-US" sz="1350" dirty="0"/>
          </a:p>
        </p:txBody>
      </p:sp>
      <p:sp>
        <p:nvSpPr>
          <p:cNvPr id="7" name="Text 4"/>
          <p:cNvSpPr/>
          <p:nvPr/>
        </p:nvSpPr>
        <p:spPr>
          <a:xfrm>
            <a:off x="548640" y="4937760"/>
            <a:ext cx="3566160" cy="100584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190,055 No vs. 39,657 Yes (17.3%) - motivated SMOTE and AUC-first metric.</a:t>
            </a:r>
            <a:endParaRPr lang="en-US" sz="1050" dirty="0"/>
          </a:p>
        </p:txBody>
      </p:sp>
      <p:sp>
        <p:nvSpPr>
          <p:cNvPr id="8" name="Shape 5"/>
          <p:cNvSpPr/>
          <p:nvPr/>
        </p:nvSpPr>
        <p:spPr>
          <a:xfrm>
            <a:off x="4297680" y="1463040"/>
            <a:ext cx="3566160" cy="2926080"/>
          </a:xfrm>
          <a:prstGeom prst="rect">
            <a:avLst/>
          </a:prstGeom>
          <a:solidFill>
            <a:srgbClr val="F5F2EC"/>
          </a:solidFill>
          <a:ln w="6350">
            <a:solidFill>
              <a:srgbClr val="D9D2C7"/>
            </a:solidFill>
            <a:prstDash val="solid"/>
          </a:ln>
        </p:spPr>
        <p:txBody>
          <a:bodyPr/>
          <a:lstStyle/>
          <a:p>
            <a:endParaRPr lang="en-US" dirty="0"/>
          </a:p>
        </p:txBody>
      </p:sp>
      <p:pic>
        <p:nvPicPr>
          <p:cNvPr id="9" name="Image 1" descr="deck_assets/age_prop.jpg"/>
          <p:cNvPicPr>
            <a:picLocks noChangeAspect="1"/>
          </p:cNvPicPr>
          <p:nvPr/>
        </p:nvPicPr>
        <p:blipFill>
          <a:blip r:embed="rId4"/>
          <a:srcRect/>
          <a:stretch/>
        </p:blipFill>
        <p:spPr>
          <a:xfrm>
            <a:off x="4434840" y="1600200"/>
            <a:ext cx="3291840" cy="2651760"/>
          </a:xfrm>
          <a:prstGeom prst="rect">
            <a:avLst/>
          </a:prstGeom>
        </p:spPr>
      </p:pic>
      <p:sp>
        <p:nvSpPr>
          <p:cNvPr id="10" name="Text 6"/>
          <p:cNvSpPr/>
          <p:nvPr/>
        </p:nvSpPr>
        <p:spPr>
          <a:xfrm>
            <a:off x="4297680" y="4526280"/>
            <a:ext cx="3566160" cy="411480"/>
          </a:xfrm>
          <a:prstGeom prst="rect">
            <a:avLst/>
          </a:prstGeom>
          <a:noFill/>
          <a:ln/>
        </p:spPr>
        <p:txBody>
          <a:bodyPr wrap="square" lIns="0" tIns="0" rIns="0" bIns="0" rtlCol="0" anchor="ctr"/>
          <a:lstStyle/>
          <a:p>
            <a:pPr marL="0" indent="0">
              <a:buNone/>
            </a:pPr>
            <a:r>
              <a:rPr lang="en-US" sz="1350" b="1" dirty="0">
                <a:solidFill>
                  <a:srgbClr val="0F4C5C"/>
                </a:solidFill>
                <a:latin typeface="Calibri" pitchFamily="34" charset="0"/>
                <a:ea typeface="Calibri" pitchFamily="34" charset="-122"/>
                <a:cs typeface="Calibri" pitchFamily="34" charset="-120"/>
              </a:rPr>
              <a:t>Diabetes rises monotonically with age</a:t>
            </a:r>
            <a:endParaRPr lang="en-US" sz="1350" dirty="0"/>
          </a:p>
        </p:txBody>
      </p:sp>
      <p:sp>
        <p:nvSpPr>
          <p:cNvPr id="11" name="Text 7"/>
          <p:cNvSpPr/>
          <p:nvPr/>
        </p:nvSpPr>
        <p:spPr>
          <a:xfrm>
            <a:off x="4297680" y="4937760"/>
            <a:ext cx="3566160" cy="100584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&lt;5% prevalence at age 18-24, &gt;25% by 70+. Age becomes a top-3 RF predictor.</a:t>
            </a:r>
            <a:endParaRPr lang="en-US" sz="1050" dirty="0"/>
          </a:p>
        </p:txBody>
      </p:sp>
      <p:sp>
        <p:nvSpPr>
          <p:cNvPr id="12" name="Shape 8"/>
          <p:cNvSpPr/>
          <p:nvPr/>
        </p:nvSpPr>
        <p:spPr>
          <a:xfrm>
            <a:off x="8046720" y="1463040"/>
            <a:ext cx="3566160" cy="2926080"/>
          </a:xfrm>
          <a:prstGeom prst="rect">
            <a:avLst/>
          </a:prstGeom>
          <a:solidFill>
            <a:srgbClr val="F5F2EC"/>
          </a:solidFill>
          <a:ln w="6350">
            <a:solidFill>
              <a:srgbClr val="D9D2C7"/>
            </a:solidFill>
            <a:prstDash val="solid"/>
          </a:ln>
        </p:spPr>
        <p:txBody>
          <a:bodyPr/>
          <a:lstStyle/>
          <a:p>
            <a:endParaRPr lang="en-US" dirty="0"/>
          </a:p>
        </p:txBody>
      </p:sp>
      <p:pic>
        <p:nvPicPr>
          <p:cNvPr id="13" name="Image 2" descr="deck_assets/corr.jpg"/>
          <p:cNvPicPr>
            <a:picLocks noChangeAspect="1"/>
          </p:cNvPicPr>
          <p:nvPr/>
        </p:nvPicPr>
        <p:blipFill>
          <a:blip r:embed="rId5"/>
          <a:srcRect/>
          <a:stretch/>
        </p:blipFill>
        <p:spPr>
          <a:xfrm>
            <a:off x="8183880" y="1600200"/>
            <a:ext cx="3291840" cy="2651760"/>
          </a:xfrm>
          <a:prstGeom prst="rect">
            <a:avLst/>
          </a:prstGeom>
        </p:spPr>
      </p:pic>
      <p:sp>
        <p:nvSpPr>
          <p:cNvPr id="14" name="Text 9"/>
          <p:cNvSpPr/>
          <p:nvPr/>
        </p:nvSpPr>
        <p:spPr>
          <a:xfrm>
            <a:off x="8046720" y="4526280"/>
            <a:ext cx="3566160" cy="411480"/>
          </a:xfrm>
          <a:prstGeom prst="rect">
            <a:avLst/>
          </a:prstGeom>
          <a:noFill/>
          <a:ln/>
        </p:spPr>
        <p:txBody>
          <a:bodyPr wrap="square" lIns="0" tIns="0" rIns="0" bIns="0" rtlCol="0" anchor="ctr"/>
          <a:lstStyle/>
          <a:p>
            <a:pPr marL="0" indent="0">
              <a:buNone/>
            </a:pPr>
            <a:r>
              <a:rPr lang="en-US" sz="1350" b="1" dirty="0">
                <a:solidFill>
                  <a:srgbClr val="0F4C5C"/>
                </a:solidFill>
                <a:latin typeface="Calibri" pitchFamily="34" charset="0"/>
                <a:ea typeface="Calibri" pitchFamily="34" charset="-122"/>
                <a:cs typeface="Calibri" pitchFamily="34" charset="-120"/>
              </a:rPr>
              <a:t>GenHlth ↔ PhysHlth is the strongest pair</a:t>
            </a:r>
            <a:endParaRPr lang="en-US" sz="1350" dirty="0"/>
          </a:p>
        </p:txBody>
      </p:sp>
      <p:sp>
        <p:nvSpPr>
          <p:cNvPr id="15" name="Text 10"/>
          <p:cNvSpPr/>
          <p:nvPr/>
        </p:nvSpPr>
        <p:spPr>
          <a:xfrm>
            <a:off x="8046720" y="4937760"/>
            <a:ext cx="3566160" cy="1005840"/>
          </a:xfrm>
          <a:prstGeom prst="rect">
            <a:avLst/>
          </a:prstGeom>
          <a:noFill/>
          <a:ln/>
        </p:spPr>
        <p:txBody>
          <a:bodyPr wrap="square" lIns="0" tIns="0" rIns="0" bIns="0" rtlCol="0" anchor="ctr"/>
          <a:lstStyle/>
          <a:p>
            <a:pPr marL="0" indent="0">
              <a:buNone/>
            </a:pPr>
            <a:r>
              <a:rPr lang="en-US" sz="1050" dirty="0">
                <a:solidFill>
                  <a:srgbClr val="4A5C5E"/>
                </a:solidFill>
                <a:latin typeface="Calibri" pitchFamily="34" charset="0"/>
                <a:ea typeface="Calibri" pitchFamily="34" charset="-122"/>
                <a:cs typeface="Calibri" pitchFamily="34" charset="-120"/>
              </a:rPr>
              <a:t>r ≈ 0.52; otherwise correlations stay &lt;|0.55| - no feature dropped for redundancy.</a:t>
            </a:r>
            <a:endParaRPr lang="en-US" sz="1050" dirty="0"/>
          </a:p>
        </p:txBody>
      </p:sp>
      <p:sp>
        <p:nvSpPr>
          <p:cNvPr id="16" name="Shape 11"/>
          <p:cNvSpPr/>
          <p:nvPr/>
        </p:nvSpPr>
        <p:spPr>
          <a:xfrm>
            <a:off x="548640" y="5943600"/>
            <a:ext cx="11064240" cy="411480"/>
          </a:xfrm>
          <a:prstGeom prst="rect">
            <a:avLst/>
          </a:prstGeom>
          <a:solidFill>
            <a:srgbClr val="0F4C5C"/>
          </a:solidFill>
          <a:ln w="12700">
            <a:solidFill>
              <a:srgbClr val="0F4C5C"/>
            </a:solidFill>
            <a:prstDash val="solid"/>
          </a:ln>
        </p:spPr>
        <p:txBody>
          <a:bodyPr/>
          <a:lstStyle/>
          <a:p>
            <a:endParaRPr lang="en-US" dirty="0"/>
          </a:p>
        </p:txBody>
      </p:sp>
      <p:sp>
        <p:nvSpPr>
          <p:cNvPr id="17" name="Text 12"/>
          <p:cNvSpPr/>
          <p:nvPr/>
        </p:nvSpPr>
        <p:spPr>
          <a:xfrm>
            <a:off x="777240" y="5943600"/>
            <a:ext cx="10972800" cy="41148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Diabetic respondents are systematically heavier (BMI median 31 vs 27), older, in worse self-rated health, and less physically active — all consistent with established clinical risk profiles.</a:t>
            </a:r>
            <a:endParaRPr lang="en-US" sz="1100" dirty="0"/>
          </a:p>
        </p:txBody>
      </p:sp>
      <p:sp>
        <p:nvSpPr>
          <p:cNvPr id="18" name="Shape 13"/>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19" name="Text 14"/>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20" name="Text 15"/>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05  •  MODELING</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Six model families, 5-fold CV, AUC as primary metric</a:t>
            </a:r>
            <a:endParaRPr lang="en-US" sz="3000" dirty="0"/>
          </a:p>
        </p:txBody>
      </p:sp>
      <p:sp>
        <p:nvSpPr>
          <p:cNvPr id="4" name="Text 2"/>
          <p:cNvSpPr/>
          <p:nvPr/>
        </p:nvSpPr>
        <p:spPr>
          <a:xfrm>
            <a:off x="548640" y="1463040"/>
            <a:ext cx="4572000" cy="274320"/>
          </a:xfrm>
          <a:prstGeom prst="rect">
            <a:avLst/>
          </a:prstGeom>
          <a:noFill/>
          <a:ln/>
        </p:spPr>
        <p:txBody>
          <a:bodyPr wrap="square" lIns="0" tIns="0" rIns="0" bIns="0" rtlCol="0" anchor="ctr"/>
          <a:lstStyle/>
          <a:p>
            <a:pPr marL="0" indent="0">
              <a:buNone/>
            </a:pPr>
            <a:r>
              <a:rPr lang="en-US" sz="1000" b="1" kern="0" spc="400" dirty="0">
                <a:solidFill>
                  <a:srgbClr val="E2725B"/>
                </a:solidFill>
                <a:latin typeface="Calibri" pitchFamily="34" charset="0"/>
                <a:ea typeface="Calibri" pitchFamily="34" charset="-122"/>
                <a:cs typeface="Calibri" pitchFamily="34" charset="-120"/>
              </a:rPr>
              <a:t>MODELS TRAINED</a:t>
            </a:r>
            <a:endParaRPr lang="en-US" sz="1000" dirty="0"/>
          </a:p>
        </p:txBody>
      </p:sp>
      <p:sp>
        <p:nvSpPr>
          <p:cNvPr id="5" name="Shape 3"/>
          <p:cNvSpPr/>
          <p:nvPr/>
        </p:nvSpPr>
        <p:spPr>
          <a:xfrm>
            <a:off x="548640" y="178308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6" name="Shape 4"/>
          <p:cNvSpPr/>
          <p:nvPr/>
        </p:nvSpPr>
        <p:spPr>
          <a:xfrm>
            <a:off x="548640" y="1783080"/>
            <a:ext cx="73152" cy="411480"/>
          </a:xfrm>
          <a:prstGeom prst="rect">
            <a:avLst/>
          </a:prstGeom>
          <a:solidFill>
            <a:srgbClr val="14758A"/>
          </a:solidFill>
          <a:ln w="12700">
            <a:solidFill>
              <a:srgbClr val="E2725B"/>
            </a:solidFill>
            <a:prstDash val="solid"/>
          </a:ln>
        </p:spPr>
        <p:txBody>
          <a:bodyPr/>
          <a:lstStyle/>
          <a:p>
            <a:endParaRPr lang="en-US" dirty="0"/>
          </a:p>
        </p:txBody>
      </p:sp>
      <p:sp>
        <p:nvSpPr>
          <p:cNvPr id="7" name="Text 5"/>
          <p:cNvSpPr/>
          <p:nvPr/>
        </p:nvSpPr>
        <p:spPr>
          <a:xfrm>
            <a:off x="713232" y="178308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Logistic Regression</a:t>
            </a:r>
            <a:endParaRPr lang="en-US" sz="1200" dirty="0"/>
          </a:p>
        </p:txBody>
      </p:sp>
      <p:sp>
        <p:nvSpPr>
          <p:cNvPr id="8" name="Text 6"/>
          <p:cNvSpPr/>
          <p:nvPr/>
        </p:nvSpPr>
        <p:spPr>
          <a:xfrm>
            <a:off x="2926080" y="178308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interpretable baseline + odds ratios</a:t>
            </a:r>
            <a:endParaRPr lang="en-US" sz="950" dirty="0"/>
          </a:p>
        </p:txBody>
      </p:sp>
      <p:sp>
        <p:nvSpPr>
          <p:cNvPr id="9" name="Text 7"/>
          <p:cNvSpPr/>
          <p:nvPr/>
        </p:nvSpPr>
        <p:spPr>
          <a:xfrm>
            <a:off x="4572000" y="1783080"/>
            <a:ext cx="777240" cy="411480"/>
          </a:xfrm>
          <a:prstGeom prst="rect">
            <a:avLst/>
          </a:prstGeom>
          <a:noFill/>
          <a:ln/>
        </p:spPr>
        <p:txBody>
          <a:bodyPr wrap="square" lIns="0" tIns="0" rIns="0" bIns="0" rtlCol="0" anchor="ctr"/>
          <a:lstStyle/>
          <a:p>
            <a:pPr marL="0" indent="0" algn="r">
              <a:buNone/>
            </a:pPr>
            <a:r>
              <a:rPr lang="en-US" sz="1250" b="1" dirty="0">
                <a:solidFill>
                  <a:srgbClr val="0F4C5C"/>
                </a:solidFill>
                <a:latin typeface="Georgia" pitchFamily="34" charset="0"/>
                <a:ea typeface="Georgia" pitchFamily="34" charset="-122"/>
                <a:cs typeface="Georgia" pitchFamily="34" charset="-120"/>
              </a:rPr>
              <a:t>0.798</a:t>
            </a:r>
            <a:endParaRPr lang="en-US" sz="1250" dirty="0"/>
          </a:p>
        </p:txBody>
      </p:sp>
      <p:sp>
        <p:nvSpPr>
          <p:cNvPr id="10" name="Shape 8"/>
          <p:cNvSpPr/>
          <p:nvPr/>
        </p:nvSpPr>
        <p:spPr>
          <a:xfrm>
            <a:off x="548640" y="228600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11" name="Shape 9"/>
          <p:cNvSpPr/>
          <p:nvPr/>
        </p:nvSpPr>
        <p:spPr>
          <a:xfrm>
            <a:off x="548640" y="2286000"/>
            <a:ext cx="73152" cy="411480"/>
          </a:xfrm>
          <a:prstGeom prst="rect">
            <a:avLst/>
          </a:prstGeom>
          <a:solidFill>
            <a:srgbClr val="14758A"/>
          </a:solidFill>
          <a:ln w="12700">
            <a:solidFill>
              <a:srgbClr val="E2725B"/>
            </a:solidFill>
            <a:prstDash val="solid"/>
          </a:ln>
        </p:spPr>
        <p:txBody>
          <a:bodyPr/>
          <a:lstStyle/>
          <a:p>
            <a:endParaRPr lang="en-US" dirty="0"/>
          </a:p>
        </p:txBody>
      </p:sp>
      <p:sp>
        <p:nvSpPr>
          <p:cNvPr id="12" name="Text 10"/>
          <p:cNvSpPr/>
          <p:nvPr/>
        </p:nvSpPr>
        <p:spPr>
          <a:xfrm>
            <a:off x="713232" y="228600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LDA</a:t>
            </a:r>
            <a:endParaRPr lang="en-US" sz="1200" dirty="0"/>
          </a:p>
        </p:txBody>
      </p:sp>
      <p:sp>
        <p:nvSpPr>
          <p:cNvPr id="13" name="Text 11"/>
          <p:cNvSpPr/>
          <p:nvPr/>
        </p:nvSpPr>
        <p:spPr>
          <a:xfrm>
            <a:off x="2926080" y="228600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well-calibrated parametric</a:t>
            </a:r>
            <a:endParaRPr lang="en-US" sz="950" dirty="0"/>
          </a:p>
        </p:txBody>
      </p:sp>
      <p:sp>
        <p:nvSpPr>
          <p:cNvPr id="14" name="Text 12"/>
          <p:cNvSpPr/>
          <p:nvPr/>
        </p:nvSpPr>
        <p:spPr>
          <a:xfrm>
            <a:off x="4572000" y="2286000"/>
            <a:ext cx="777240" cy="411480"/>
          </a:xfrm>
          <a:prstGeom prst="rect">
            <a:avLst/>
          </a:prstGeom>
          <a:noFill/>
          <a:ln/>
        </p:spPr>
        <p:txBody>
          <a:bodyPr wrap="square" lIns="0" tIns="0" rIns="0" bIns="0" rtlCol="0" anchor="ctr"/>
          <a:lstStyle/>
          <a:p>
            <a:pPr marL="0" indent="0" algn="r">
              <a:buNone/>
            </a:pPr>
            <a:r>
              <a:rPr lang="en-US" sz="1250" b="1" dirty="0">
                <a:solidFill>
                  <a:srgbClr val="0F4C5C"/>
                </a:solidFill>
                <a:latin typeface="Georgia" pitchFamily="34" charset="0"/>
                <a:ea typeface="Georgia" pitchFamily="34" charset="-122"/>
                <a:cs typeface="Georgia" pitchFamily="34" charset="-120"/>
              </a:rPr>
              <a:t>0.798</a:t>
            </a:r>
            <a:endParaRPr lang="en-US" sz="1250" dirty="0"/>
          </a:p>
        </p:txBody>
      </p:sp>
      <p:sp>
        <p:nvSpPr>
          <p:cNvPr id="15" name="Shape 13"/>
          <p:cNvSpPr/>
          <p:nvPr/>
        </p:nvSpPr>
        <p:spPr>
          <a:xfrm>
            <a:off x="548640" y="278892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16" name="Shape 14"/>
          <p:cNvSpPr/>
          <p:nvPr/>
        </p:nvSpPr>
        <p:spPr>
          <a:xfrm>
            <a:off x="548640" y="2788920"/>
            <a:ext cx="73152" cy="411480"/>
          </a:xfrm>
          <a:prstGeom prst="rect">
            <a:avLst/>
          </a:prstGeom>
          <a:solidFill>
            <a:srgbClr val="14758A"/>
          </a:solidFill>
          <a:ln w="12700">
            <a:solidFill>
              <a:srgbClr val="E2725B"/>
            </a:solidFill>
            <a:prstDash val="solid"/>
          </a:ln>
        </p:spPr>
        <p:txBody>
          <a:bodyPr/>
          <a:lstStyle/>
          <a:p>
            <a:endParaRPr lang="en-US" dirty="0"/>
          </a:p>
        </p:txBody>
      </p:sp>
      <p:sp>
        <p:nvSpPr>
          <p:cNvPr id="17" name="Text 15"/>
          <p:cNvSpPr/>
          <p:nvPr/>
        </p:nvSpPr>
        <p:spPr>
          <a:xfrm>
            <a:off x="713232" y="278892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Decision Tree (rpart)</a:t>
            </a:r>
            <a:endParaRPr lang="en-US" sz="1200" dirty="0"/>
          </a:p>
        </p:txBody>
      </p:sp>
      <p:sp>
        <p:nvSpPr>
          <p:cNvPr id="18" name="Text 16"/>
          <p:cNvSpPr/>
          <p:nvPr/>
        </p:nvSpPr>
        <p:spPr>
          <a:xfrm>
            <a:off x="2926080" y="278892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CP tuned over 10 values</a:t>
            </a:r>
            <a:endParaRPr lang="en-US" sz="950" dirty="0"/>
          </a:p>
        </p:txBody>
      </p:sp>
      <p:sp>
        <p:nvSpPr>
          <p:cNvPr id="19" name="Text 17"/>
          <p:cNvSpPr/>
          <p:nvPr/>
        </p:nvSpPr>
        <p:spPr>
          <a:xfrm>
            <a:off x="4572000" y="2788920"/>
            <a:ext cx="777240" cy="411480"/>
          </a:xfrm>
          <a:prstGeom prst="rect">
            <a:avLst/>
          </a:prstGeom>
          <a:noFill/>
          <a:ln/>
        </p:spPr>
        <p:txBody>
          <a:bodyPr wrap="square" lIns="0" tIns="0" rIns="0" bIns="0" rtlCol="0" anchor="ctr"/>
          <a:lstStyle/>
          <a:p>
            <a:pPr marL="0" indent="0" algn="r">
              <a:buNone/>
            </a:pPr>
            <a:r>
              <a:rPr lang="en-US" sz="1250" b="1" dirty="0">
                <a:solidFill>
                  <a:srgbClr val="0F4C5C"/>
                </a:solidFill>
                <a:latin typeface="Georgia" pitchFamily="34" charset="0"/>
                <a:ea typeface="Georgia" pitchFamily="34" charset="-122"/>
                <a:cs typeface="Georgia" pitchFamily="34" charset="-120"/>
              </a:rPr>
              <a:t>0.722</a:t>
            </a:r>
            <a:endParaRPr lang="en-US" sz="1250" dirty="0"/>
          </a:p>
        </p:txBody>
      </p:sp>
      <p:sp>
        <p:nvSpPr>
          <p:cNvPr id="20" name="Shape 18"/>
          <p:cNvSpPr/>
          <p:nvPr/>
        </p:nvSpPr>
        <p:spPr>
          <a:xfrm>
            <a:off x="548640" y="329184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21" name="Shape 19"/>
          <p:cNvSpPr/>
          <p:nvPr/>
        </p:nvSpPr>
        <p:spPr>
          <a:xfrm>
            <a:off x="548640" y="3291840"/>
            <a:ext cx="73152" cy="411480"/>
          </a:xfrm>
          <a:prstGeom prst="rect">
            <a:avLst/>
          </a:prstGeom>
          <a:solidFill>
            <a:srgbClr val="14758A"/>
          </a:solidFill>
          <a:ln w="12700">
            <a:solidFill>
              <a:srgbClr val="E2725B"/>
            </a:solidFill>
            <a:prstDash val="solid"/>
          </a:ln>
        </p:spPr>
        <p:txBody>
          <a:bodyPr/>
          <a:lstStyle/>
          <a:p>
            <a:endParaRPr lang="en-US" dirty="0"/>
          </a:p>
        </p:txBody>
      </p:sp>
      <p:sp>
        <p:nvSpPr>
          <p:cNvPr id="22" name="Text 20"/>
          <p:cNvSpPr/>
          <p:nvPr/>
        </p:nvSpPr>
        <p:spPr>
          <a:xfrm>
            <a:off x="713232" y="329184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Random Forest</a:t>
            </a:r>
            <a:endParaRPr lang="en-US" sz="1200" dirty="0"/>
          </a:p>
        </p:txBody>
      </p:sp>
      <p:sp>
        <p:nvSpPr>
          <p:cNvPr id="23" name="Text 21"/>
          <p:cNvSpPr/>
          <p:nvPr/>
        </p:nvSpPr>
        <p:spPr>
          <a:xfrm>
            <a:off x="2926080" y="329184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ntree=200, mtry∈{3,5,7}</a:t>
            </a:r>
            <a:endParaRPr lang="en-US" sz="950" dirty="0"/>
          </a:p>
        </p:txBody>
      </p:sp>
      <p:sp>
        <p:nvSpPr>
          <p:cNvPr id="24" name="Text 22"/>
          <p:cNvSpPr/>
          <p:nvPr/>
        </p:nvSpPr>
        <p:spPr>
          <a:xfrm>
            <a:off x="4572000" y="3291840"/>
            <a:ext cx="777240" cy="411480"/>
          </a:xfrm>
          <a:prstGeom prst="rect">
            <a:avLst/>
          </a:prstGeom>
          <a:noFill/>
          <a:ln/>
        </p:spPr>
        <p:txBody>
          <a:bodyPr wrap="square" lIns="0" tIns="0" rIns="0" bIns="0" rtlCol="0" anchor="ctr"/>
          <a:lstStyle/>
          <a:p>
            <a:pPr marL="0" indent="0" algn="r">
              <a:buNone/>
            </a:pPr>
            <a:r>
              <a:rPr lang="en-US" sz="1250" b="1" dirty="0">
                <a:solidFill>
                  <a:srgbClr val="0F4C5C"/>
                </a:solidFill>
                <a:latin typeface="Georgia" pitchFamily="34" charset="0"/>
                <a:ea typeface="Georgia" pitchFamily="34" charset="-122"/>
                <a:cs typeface="Georgia" pitchFamily="34" charset="-120"/>
              </a:rPr>
              <a:t>0.780</a:t>
            </a:r>
            <a:endParaRPr lang="en-US" sz="1250" dirty="0"/>
          </a:p>
        </p:txBody>
      </p:sp>
      <p:sp>
        <p:nvSpPr>
          <p:cNvPr id="25" name="Shape 23"/>
          <p:cNvSpPr/>
          <p:nvPr/>
        </p:nvSpPr>
        <p:spPr>
          <a:xfrm>
            <a:off x="548640" y="379476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26" name="Shape 24"/>
          <p:cNvSpPr/>
          <p:nvPr/>
        </p:nvSpPr>
        <p:spPr>
          <a:xfrm>
            <a:off x="548640" y="3794760"/>
            <a:ext cx="73152" cy="411480"/>
          </a:xfrm>
          <a:prstGeom prst="rect">
            <a:avLst/>
          </a:prstGeom>
          <a:solidFill>
            <a:srgbClr val="E2725B"/>
          </a:solidFill>
          <a:ln w="12700">
            <a:solidFill>
              <a:srgbClr val="E2725B"/>
            </a:solidFill>
            <a:prstDash val="solid"/>
          </a:ln>
        </p:spPr>
        <p:txBody>
          <a:bodyPr/>
          <a:lstStyle/>
          <a:p>
            <a:endParaRPr lang="en-US" dirty="0"/>
          </a:p>
        </p:txBody>
      </p:sp>
      <p:sp>
        <p:nvSpPr>
          <p:cNvPr id="27" name="Text 25"/>
          <p:cNvSpPr/>
          <p:nvPr/>
        </p:nvSpPr>
        <p:spPr>
          <a:xfrm>
            <a:off x="713232" y="379476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XGBoost</a:t>
            </a:r>
            <a:endParaRPr lang="en-US" sz="1200" dirty="0"/>
          </a:p>
        </p:txBody>
      </p:sp>
      <p:sp>
        <p:nvSpPr>
          <p:cNvPr id="28" name="Text 26"/>
          <p:cNvSpPr/>
          <p:nvPr/>
        </p:nvSpPr>
        <p:spPr>
          <a:xfrm>
            <a:off x="2926080" y="379476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narrow→wide grid, 216 combos</a:t>
            </a:r>
            <a:endParaRPr lang="en-US" sz="950" dirty="0"/>
          </a:p>
        </p:txBody>
      </p:sp>
      <p:sp>
        <p:nvSpPr>
          <p:cNvPr id="29" name="Text 27"/>
          <p:cNvSpPr/>
          <p:nvPr/>
        </p:nvSpPr>
        <p:spPr>
          <a:xfrm>
            <a:off x="4572000" y="3794760"/>
            <a:ext cx="777240" cy="411480"/>
          </a:xfrm>
          <a:prstGeom prst="rect">
            <a:avLst/>
          </a:prstGeom>
          <a:noFill/>
          <a:ln/>
        </p:spPr>
        <p:txBody>
          <a:bodyPr wrap="square" lIns="0" tIns="0" rIns="0" bIns="0" rtlCol="0" anchor="ctr"/>
          <a:lstStyle/>
          <a:p>
            <a:pPr marL="0" indent="0" algn="r">
              <a:buNone/>
            </a:pPr>
            <a:r>
              <a:rPr lang="en-US" sz="1250" b="1" dirty="0">
                <a:solidFill>
                  <a:srgbClr val="E2725B"/>
                </a:solidFill>
                <a:latin typeface="Georgia" pitchFamily="34" charset="0"/>
                <a:ea typeface="Georgia" pitchFamily="34" charset="-122"/>
                <a:cs typeface="Georgia" pitchFamily="34" charset="-120"/>
              </a:rPr>
              <a:t>0.804</a:t>
            </a:r>
            <a:endParaRPr lang="en-US" sz="1250" dirty="0"/>
          </a:p>
        </p:txBody>
      </p:sp>
      <p:sp>
        <p:nvSpPr>
          <p:cNvPr id="30" name="Shape 28"/>
          <p:cNvSpPr/>
          <p:nvPr/>
        </p:nvSpPr>
        <p:spPr>
          <a:xfrm>
            <a:off x="548640" y="4297680"/>
            <a:ext cx="4846320" cy="411480"/>
          </a:xfrm>
          <a:prstGeom prst="rect">
            <a:avLst/>
          </a:prstGeom>
          <a:solidFill>
            <a:srgbClr val="F5F2EC"/>
          </a:solidFill>
          <a:ln w="5080">
            <a:solidFill>
              <a:srgbClr val="D9D2C7"/>
            </a:solidFill>
            <a:prstDash val="solid"/>
          </a:ln>
        </p:spPr>
        <p:txBody>
          <a:bodyPr/>
          <a:lstStyle/>
          <a:p>
            <a:endParaRPr lang="en-US" dirty="0"/>
          </a:p>
        </p:txBody>
      </p:sp>
      <p:sp>
        <p:nvSpPr>
          <p:cNvPr id="31" name="Shape 29"/>
          <p:cNvSpPr/>
          <p:nvPr/>
        </p:nvSpPr>
        <p:spPr>
          <a:xfrm>
            <a:off x="548640" y="4297680"/>
            <a:ext cx="73152" cy="411480"/>
          </a:xfrm>
          <a:prstGeom prst="rect">
            <a:avLst/>
          </a:prstGeom>
          <a:solidFill>
            <a:srgbClr val="14758A"/>
          </a:solidFill>
          <a:ln w="12700">
            <a:solidFill>
              <a:srgbClr val="E2725B"/>
            </a:solidFill>
            <a:prstDash val="solid"/>
          </a:ln>
        </p:spPr>
        <p:txBody>
          <a:bodyPr/>
          <a:lstStyle/>
          <a:p>
            <a:endParaRPr lang="en-US" dirty="0"/>
          </a:p>
        </p:txBody>
      </p:sp>
      <p:sp>
        <p:nvSpPr>
          <p:cNvPr id="32" name="Text 30"/>
          <p:cNvSpPr/>
          <p:nvPr/>
        </p:nvSpPr>
        <p:spPr>
          <a:xfrm>
            <a:off x="713232" y="4297680"/>
            <a:ext cx="2194560" cy="411480"/>
          </a:xfrm>
          <a:prstGeom prst="rect">
            <a:avLst/>
          </a:prstGeom>
          <a:noFill/>
          <a:ln/>
        </p:spPr>
        <p:txBody>
          <a:bodyPr wrap="square" lIns="0" tIns="0" rIns="0" bIns="0" rtlCol="0" anchor="ctr"/>
          <a:lstStyle/>
          <a:p>
            <a:pPr marL="0" indent="0">
              <a:buNone/>
            </a:pPr>
            <a:r>
              <a:rPr lang="en-US" sz="1200" b="1" dirty="0">
                <a:solidFill>
                  <a:srgbClr val="0F4C5C"/>
                </a:solidFill>
                <a:latin typeface="Calibri" pitchFamily="34" charset="0"/>
                <a:ea typeface="Calibri" pitchFamily="34" charset="-122"/>
                <a:cs typeface="Calibri" pitchFamily="34" charset="-120"/>
              </a:rPr>
              <a:t>KNN</a:t>
            </a:r>
            <a:endParaRPr lang="en-US" sz="1200" dirty="0"/>
          </a:p>
        </p:txBody>
      </p:sp>
      <p:sp>
        <p:nvSpPr>
          <p:cNvPr id="33" name="Text 31"/>
          <p:cNvSpPr/>
          <p:nvPr/>
        </p:nvSpPr>
        <p:spPr>
          <a:xfrm>
            <a:off x="2926080" y="4297680"/>
            <a:ext cx="1645920" cy="411480"/>
          </a:xfrm>
          <a:prstGeom prst="rect">
            <a:avLst/>
          </a:prstGeom>
          <a:noFill/>
          <a:ln/>
        </p:spPr>
        <p:txBody>
          <a:bodyPr wrap="square" lIns="0" tIns="0" rIns="0" bIns="0" rtlCol="0" anchor="ctr"/>
          <a:lstStyle/>
          <a:p>
            <a:pPr marL="0" indent="0">
              <a:buNone/>
            </a:pPr>
            <a:r>
              <a:rPr lang="en-US" sz="950" i="1" dirty="0">
                <a:solidFill>
                  <a:srgbClr val="8A9A9C"/>
                </a:solidFill>
                <a:latin typeface="Calibri" pitchFamily="34" charset="0"/>
                <a:ea typeface="Calibri" pitchFamily="34" charset="-122"/>
                <a:cs typeface="Calibri" pitchFamily="34" charset="-120"/>
              </a:rPr>
              <a:t>k tuned ∈ {3,5,7,11,15,21}</a:t>
            </a:r>
            <a:endParaRPr lang="en-US" sz="950" dirty="0"/>
          </a:p>
        </p:txBody>
      </p:sp>
      <p:sp>
        <p:nvSpPr>
          <p:cNvPr id="34" name="Text 32"/>
          <p:cNvSpPr/>
          <p:nvPr/>
        </p:nvSpPr>
        <p:spPr>
          <a:xfrm>
            <a:off x="4572000" y="4297680"/>
            <a:ext cx="777240" cy="411480"/>
          </a:xfrm>
          <a:prstGeom prst="rect">
            <a:avLst/>
          </a:prstGeom>
          <a:noFill/>
          <a:ln/>
        </p:spPr>
        <p:txBody>
          <a:bodyPr wrap="square" lIns="0" tIns="0" rIns="0" bIns="0" rtlCol="0" anchor="ctr"/>
          <a:lstStyle/>
          <a:p>
            <a:pPr marL="0" indent="0" algn="r">
              <a:buNone/>
            </a:pPr>
            <a:r>
              <a:rPr lang="en-US" sz="1250" b="1" dirty="0">
                <a:solidFill>
                  <a:srgbClr val="0F4C5C"/>
                </a:solidFill>
                <a:latin typeface="Georgia" pitchFamily="34" charset="0"/>
                <a:ea typeface="Georgia" pitchFamily="34" charset="-122"/>
                <a:cs typeface="Georgia" pitchFamily="34" charset="-120"/>
              </a:rPr>
              <a:t>0.561*</a:t>
            </a:r>
            <a:endParaRPr lang="en-US" sz="1250" dirty="0"/>
          </a:p>
        </p:txBody>
      </p:sp>
      <p:sp>
        <p:nvSpPr>
          <p:cNvPr id="35" name="Text 33"/>
          <p:cNvSpPr/>
          <p:nvPr/>
        </p:nvSpPr>
        <p:spPr>
          <a:xfrm>
            <a:off x="548640" y="4846320"/>
            <a:ext cx="4937760" cy="274320"/>
          </a:xfrm>
          <a:prstGeom prst="rect">
            <a:avLst/>
          </a:prstGeom>
          <a:noFill/>
          <a:ln/>
        </p:spPr>
        <p:txBody>
          <a:bodyPr wrap="square" lIns="0" tIns="0" rIns="0" bIns="0" rtlCol="0" anchor="ctr"/>
          <a:lstStyle/>
          <a:p>
            <a:pPr marL="0" indent="0">
              <a:buNone/>
            </a:pPr>
            <a:r>
              <a:rPr lang="en-US" sz="900" i="1" dirty="0">
                <a:solidFill>
                  <a:srgbClr val="8A9A9C"/>
                </a:solidFill>
                <a:latin typeface="Calibri" pitchFamily="34" charset="0"/>
                <a:ea typeface="Calibri" pitchFamily="34" charset="-122"/>
                <a:cs typeface="Calibri" pitchFamily="34" charset="-120"/>
              </a:rPr>
              <a:t>* KNN AUC reflects hard-label predictions, not probabilities.</a:t>
            </a:r>
            <a:endParaRPr lang="en-US" sz="900" dirty="0"/>
          </a:p>
        </p:txBody>
      </p:sp>
      <p:sp>
        <p:nvSpPr>
          <p:cNvPr id="36" name="Shape 34"/>
          <p:cNvSpPr/>
          <p:nvPr/>
        </p:nvSpPr>
        <p:spPr>
          <a:xfrm>
            <a:off x="5669280" y="1463040"/>
            <a:ext cx="5943600" cy="3657600"/>
          </a:xfrm>
          <a:prstGeom prst="rect">
            <a:avLst/>
          </a:prstGeom>
          <a:solidFill>
            <a:srgbClr val="F5F2EC"/>
          </a:solidFill>
          <a:ln w="6350">
            <a:solidFill>
              <a:srgbClr val="D9D2C7"/>
            </a:solidFill>
            <a:prstDash val="solid"/>
          </a:ln>
        </p:spPr>
        <p:txBody>
          <a:bodyPr/>
          <a:lstStyle/>
          <a:p>
            <a:endParaRPr lang="en-US" dirty="0"/>
          </a:p>
        </p:txBody>
      </p:sp>
      <p:pic>
        <p:nvPicPr>
          <p:cNvPr id="37" name="Image 0" descr="deck_assets/roc.jpg"/>
          <p:cNvPicPr>
            <a:picLocks noChangeAspect="1"/>
          </p:cNvPicPr>
          <p:nvPr/>
        </p:nvPicPr>
        <p:blipFill>
          <a:blip r:embed="rId3"/>
          <a:srcRect/>
          <a:stretch/>
        </p:blipFill>
        <p:spPr>
          <a:xfrm>
            <a:off x="5760720" y="1554480"/>
            <a:ext cx="5760720" cy="3474720"/>
          </a:xfrm>
          <a:prstGeom prst="rect">
            <a:avLst/>
          </a:prstGeom>
        </p:spPr>
      </p:pic>
      <p:sp>
        <p:nvSpPr>
          <p:cNvPr id="38" name="Text 35"/>
          <p:cNvSpPr/>
          <p:nvPr/>
        </p:nvSpPr>
        <p:spPr>
          <a:xfrm>
            <a:off x="5669280" y="5166360"/>
            <a:ext cx="5943600" cy="365760"/>
          </a:xfrm>
          <a:prstGeom prst="rect">
            <a:avLst/>
          </a:prstGeom>
          <a:noFill/>
          <a:ln/>
        </p:spPr>
        <p:txBody>
          <a:bodyPr wrap="square" lIns="0" tIns="0" rIns="0" bIns="0" rtlCol="0" anchor="ctr"/>
          <a:lstStyle/>
          <a:p>
            <a:pPr marL="0" indent="0">
              <a:buNone/>
            </a:pPr>
            <a:r>
              <a:rPr lang="en-US" sz="1000" i="1" dirty="0">
                <a:solidFill>
                  <a:srgbClr val="4A5C5E"/>
                </a:solidFill>
                <a:latin typeface="Calibri" pitchFamily="34" charset="0"/>
                <a:ea typeface="Calibri" pitchFamily="34" charset="-122"/>
                <a:cs typeface="Calibri" pitchFamily="34" charset="-120"/>
              </a:rPr>
              <a:t>ROC overlay - XGBoost edges out LDA / Logistic at high sensitivity; Decision Tree trails.</a:t>
            </a:r>
            <a:endParaRPr lang="en-US" sz="1000" dirty="0"/>
          </a:p>
        </p:txBody>
      </p:sp>
      <p:sp>
        <p:nvSpPr>
          <p:cNvPr id="39" name="Shape 36"/>
          <p:cNvSpPr/>
          <p:nvPr/>
        </p:nvSpPr>
        <p:spPr>
          <a:xfrm>
            <a:off x="548640" y="5577840"/>
            <a:ext cx="11064240" cy="777240"/>
          </a:xfrm>
          <a:prstGeom prst="rect">
            <a:avLst/>
          </a:prstGeom>
          <a:solidFill>
            <a:srgbClr val="0F4C5C"/>
          </a:solidFill>
          <a:ln w="12700">
            <a:solidFill>
              <a:srgbClr val="0F4C5C"/>
            </a:solidFill>
            <a:prstDash val="solid"/>
          </a:ln>
        </p:spPr>
        <p:txBody>
          <a:bodyPr/>
          <a:lstStyle/>
          <a:p>
            <a:endParaRPr lang="en-US" dirty="0"/>
          </a:p>
        </p:txBody>
      </p:sp>
      <p:sp>
        <p:nvSpPr>
          <p:cNvPr id="40" name="Text 37"/>
          <p:cNvSpPr/>
          <p:nvPr/>
        </p:nvSpPr>
        <p:spPr>
          <a:xfrm>
            <a:off x="777240" y="5623560"/>
            <a:ext cx="3108960" cy="685800"/>
          </a:xfrm>
          <a:prstGeom prst="rect">
            <a:avLst/>
          </a:prstGeom>
          <a:noFill/>
          <a:ln/>
        </p:spPr>
        <p:txBody>
          <a:bodyPr wrap="square" lIns="0" tIns="0" rIns="0" bIns="0" rtlCol="0" anchor="ctr"/>
          <a:lstStyle/>
          <a:p>
            <a:pPr marL="0" indent="0">
              <a:buNone/>
            </a:pPr>
            <a:r>
              <a:rPr lang="en-US" sz="1000" b="1" kern="0" spc="300" dirty="0">
                <a:solidFill>
                  <a:srgbClr val="E2725B"/>
                </a:solidFill>
                <a:latin typeface="Calibri" pitchFamily="34" charset="0"/>
                <a:ea typeface="Calibri" pitchFamily="34" charset="-122"/>
                <a:cs typeface="Calibri" pitchFamily="34" charset="-120"/>
              </a:rPr>
              <a:t>TOP-5 RISK FACTORS  →</a:t>
            </a:r>
            <a:endParaRPr lang="en-US" sz="1000" dirty="0"/>
          </a:p>
        </p:txBody>
      </p:sp>
      <p:sp>
        <p:nvSpPr>
          <p:cNvPr id="41" name="Text 38"/>
          <p:cNvSpPr/>
          <p:nvPr/>
        </p:nvSpPr>
        <p:spPr>
          <a:xfrm>
            <a:off x="3703320" y="5650992"/>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GenHlth</a:t>
            </a:r>
            <a:endParaRPr lang="en-US" sz="1300" dirty="0"/>
          </a:p>
        </p:txBody>
      </p:sp>
      <p:sp>
        <p:nvSpPr>
          <p:cNvPr id="42" name="Text 39"/>
          <p:cNvSpPr/>
          <p:nvPr/>
        </p:nvSpPr>
        <p:spPr>
          <a:xfrm>
            <a:off x="3703320" y="5943600"/>
            <a:ext cx="1508760" cy="274320"/>
          </a:xfrm>
          <a:prstGeom prst="rect">
            <a:avLst/>
          </a:prstGeom>
          <a:noFill/>
          <a:ln/>
        </p:spPr>
        <p:txBody>
          <a:bodyPr wrap="square" lIns="0" tIns="0" rIns="0" bIns="0" rtlCol="0" anchor="ctr"/>
          <a:lstStyle/>
          <a:p>
            <a:pPr marL="0" indent="0" algn="ctr">
              <a:buNone/>
            </a:pPr>
            <a:r>
              <a:rPr lang="en-US" sz="1000" dirty="0">
                <a:solidFill>
                  <a:srgbClr val="F4D6CD"/>
                </a:solidFill>
                <a:latin typeface="Calibri" pitchFamily="34" charset="0"/>
                <a:ea typeface="Calibri" pitchFamily="34" charset="-122"/>
                <a:cs typeface="Calibri" pitchFamily="34" charset="-120"/>
              </a:rPr>
              <a:t>OR 1.90</a:t>
            </a:r>
            <a:endParaRPr lang="en-US" sz="1000" dirty="0"/>
          </a:p>
        </p:txBody>
      </p:sp>
      <p:sp>
        <p:nvSpPr>
          <p:cNvPr id="43" name="Text 40"/>
          <p:cNvSpPr/>
          <p:nvPr/>
        </p:nvSpPr>
        <p:spPr>
          <a:xfrm>
            <a:off x="5276088" y="5650992"/>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BMI</a:t>
            </a:r>
            <a:endParaRPr lang="en-US" sz="1300" dirty="0"/>
          </a:p>
        </p:txBody>
      </p:sp>
      <p:sp>
        <p:nvSpPr>
          <p:cNvPr id="44" name="Text 41"/>
          <p:cNvSpPr/>
          <p:nvPr/>
        </p:nvSpPr>
        <p:spPr>
          <a:xfrm>
            <a:off x="5276088" y="5943600"/>
            <a:ext cx="1508760" cy="274320"/>
          </a:xfrm>
          <a:prstGeom prst="rect">
            <a:avLst/>
          </a:prstGeom>
          <a:noFill/>
          <a:ln/>
        </p:spPr>
        <p:txBody>
          <a:bodyPr wrap="square" lIns="0" tIns="0" rIns="0" bIns="0" rtlCol="0" anchor="ctr"/>
          <a:lstStyle/>
          <a:p>
            <a:pPr marL="0" indent="0" algn="ctr">
              <a:buNone/>
            </a:pPr>
            <a:r>
              <a:rPr lang="en-US" sz="1000" dirty="0">
                <a:solidFill>
                  <a:srgbClr val="F4D6CD"/>
                </a:solidFill>
                <a:latin typeface="Calibri" pitchFamily="34" charset="0"/>
                <a:ea typeface="Calibri" pitchFamily="34" charset="-122"/>
                <a:cs typeface="Calibri" pitchFamily="34" charset="-120"/>
              </a:rPr>
              <a:t>OR 1.62</a:t>
            </a:r>
            <a:endParaRPr lang="en-US" sz="1000" dirty="0"/>
          </a:p>
        </p:txBody>
      </p:sp>
      <p:sp>
        <p:nvSpPr>
          <p:cNvPr id="45" name="Text 42"/>
          <p:cNvSpPr/>
          <p:nvPr/>
        </p:nvSpPr>
        <p:spPr>
          <a:xfrm>
            <a:off x="6848856" y="5650992"/>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Age</a:t>
            </a:r>
            <a:endParaRPr lang="en-US" sz="1300" dirty="0"/>
          </a:p>
        </p:txBody>
      </p:sp>
      <p:sp>
        <p:nvSpPr>
          <p:cNvPr id="46" name="Text 43"/>
          <p:cNvSpPr/>
          <p:nvPr/>
        </p:nvSpPr>
        <p:spPr>
          <a:xfrm>
            <a:off x="6848856" y="5943600"/>
            <a:ext cx="1508760" cy="274320"/>
          </a:xfrm>
          <a:prstGeom prst="rect">
            <a:avLst/>
          </a:prstGeom>
          <a:noFill/>
          <a:ln/>
        </p:spPr>
        <p:txBody>
          <a:bodyPr wrap="square" lIns="0" tIns="0" rIns="0" bIns="0" rtlCol="0" anchor="ctr"/>
          <a:lstStyle/>
          <a:p>
            <a:pPr marL="0" indent="0" algn="ctr">
              <a:buNone/>
            </a:pPr>
            <a:r>
              <a:rPr lang="en-US" sz="1000" dirty="0">
                <a:solidFill>
                  <a:srgbClr val="F4D6CD"/>
                </a:solidFill>
                <a:latin typeface="Calibri" pitchFamily="34" charset="0"/>
                <a:ea typeface="Calibri" pitchFamily="34" charset="-122"/>
                <a:cs typeface="Calibri" pitchFamily="34" charset="-120"/>
              </a:rPr>
              <a:t>OR 1.59</a:t>
            </a:r>
            <a:endParaRPr lang="en-US" sz="1000" dirty="0"/>
          </a:p>
        </p:txBody>
      </p:sp>
      <p:sp>
        <p:nvSpPr>
          <p:cNvPr id="47" name="Text 44"/>
          <p:cNvSpPr/>
          <p:nvPr/>
        </p:nvSpPr>
        <p:spPr>
          <a:xfrm>
            <a:off x="8421624" y="5650992"/>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HighBP</a:t>
            </a:r>
            <a:endParaRPr lang="en-US" sz="1300" dirty="0"/>
          </a:p>
        </p:txBody>
      </p:sp>
      <p:sp>
        <p:nvSpPr>
          <p:cNvPr id="48" name="Text 45"/>
          <p:cNvSpPr/>
          <p:nvPr/>
        </p:nvSpPr>
        <p:spPr>
          <a:xfrm>
            <a:off x="8421624" y="5943600"/>
            <a:ext cx="1508760" cy="274320"/>
          </a:xfrm>
          <a:prstGeom prst="rect">
            <a:avLst/>
          </a:prstGeom>
          <a:noFill/>
          <a:ln/>
        </p:spPr>
        <p:txBody>
          <a:bodyPr wrap="square" lIns="0" tIns="0" rIns="0" bIns="0" rtlCol="0" anchor="ctr"/>
          <a:lstStyle/>
          <a:p>
            <a:pPr marL="0" indent="0" algn="ctr">
              <a:buNone/>
            </a:pPr>
            <a:r>
              <a:rPr lang="en-US" sz="1000" dirty="0">
                <a:solidFill>
                  <a:srgbClr val="F4D6CD"/>
                </a:solidFill>
                <a:latin typeface="Calibri" pitchFamily="34" charset="0"/>
                <a:ea typeface="Calibri" pitchFamily="34" charset="-122"/>
                <a:cs typeface="Calibri" pitchFamily="34" charset="-120"/>
              </a:rPr>
              <a:t>OR 1.37</a:t>
            </a:r>
            <a:endParaRPr lang="en-US" sz="1000" dirty="0"/>
          </a:p>
        </p:txBody>
      </p:sp>
      <p:sp>
        <p:nvSpPr>
          <p:cNvPr id="49" name="Text 46"/>
          <p:cNvSpPr/>
          <p:nvPr/>
        </p:nvSpPr>
        <p:spPr>
          <a:xfrm>
            <a:off x="9994392" y="5650992"/>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HighChol</a:t>
            </a:r>
            <a:endParaRPr lang="en-US" sz="1300" dirty="0"/>
          </a:p>
        </p:txBody>
      </p:sp>
      <p:sp>
        <p:nvSpPr>
          <p:cNvPr id="50" name="Text 47"/>
          <p:cNvSpPr/>
          <p:nvPr/>
        </p:nvSpPr>
        <p:spPr>
          <a:xfrm>
            <a:off x="9994392" y="5943600"/>
            <a:ext cx="1508760" cy="274320"/>
          </a:xfrm>
          <a:prstGeom prst="rect">
            <a:avLst/>
          </a:prstGeom>
          <a:noFill/>
          <a:ln/>
        </p:spPr>
        <p:txBody>
          <a:bodyPr wrap="square" lIns="0" tIns="0" rIns="0" bIns="0" rtlCol="0" anchor="ctr"/>
          <a:lstStyle/>
          <a:p>
            <a:pPr marL="0" indent="0" algn="ctr">
              <a:buNone/>
            </a:pPr>
            <a:r>
              <a:rPr lang="en-US" sz="1000" dirty="0">
                <a:solidFill>
                  <a:srgbClr val="F4D6CD"/>
                </a:solidFill>
                <a:latin typeface="Calibri" pitchFamily="34" charset="0"/>
                <a:ea typeface="Calibri" pitchFamily="34" charset="-122"/>
                <a:cs typeface="Calibri" pitchFamily="34" charset="-120"/>
              </a:rPr>
              <a:t>OR 1.27</a:t>
            </a:r>
            <a:endParaRPr lang="en-US" sz="1000" dirty="0"/>
          </a:p>
        </p:txBody>
      </p:sp>
      <p:sp>
        <p:nvSpPr>
          <p:cNvPr id="51" name="Shape 48"/>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52" name="Text 49"/>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53" name="Text 50"/>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06  •  PRACTICAL WINS</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Threshold tuning and SMOTE — the two changes that mattered</a:t>
            </a:r>
            <a:endParaRPr lang="en-US" sz="3000" dirty="0"/>
          </a:p>
        </p:txBody>
      </p:sp>
      <p:sp>
        <p:nvSpPr>
          <p:cNvPr id="4" name="Shape 2"/>
          <p:cNvSpPr/>
          <p:nvPr/>
        </p:nvSpPr>
        <p:spPr>
          <a:xfrm>
            <a:off x="548640" y="1463040"/>
            <a:ext cx="5486400" cy="4846320"/>
          </a:xfrm>
          <a:prstGeom prst="rect">
            <a:avLst/>
          </a:prstGeom>
          <a:solidFill>
            <a:srgbClr val="F5F2EC"/>
          </a:solidFill>
          <a:ln w="6350">
            <a:solidFill>
              <a:srgbClr val="D9D2C7"/>
            </a:solidFill>
            <a:prstDash val="solid"/>
          </a:ln>
        </p:spPr>
        <p:txBody>
          <a:bodyPr/>
          <a:lstStyle/>
          <a:p>
            <a:endParaRPr lang="en-US" dirty="0"/>
          </a:p>
        </p:txBody>
      </p:sp>
      <p:sp>
        <p:nvSpPr>
          <p:cNvPr id="5" name="Text 3"/>
          <p:cNvSpPr/>
          <p:nvPr/>
        </p:nvSpPr>
        <p:spPr>
          <a:xfrm>
            <a:off x="685800" y="1554480"/>
            <a:ext cx="5303520" cy="320040"/>
          </a:xfrm>
          <a:prstGeom prst="rect">
            <a:avLst/>
          </a:prstGeom>
          <a:noFill/>
          <a:ln/>
        </p:spPr>
        <p:txBody>
          <a:bodyPr wrap="square" lIns="0" tIns="0" rIns="0" bIns="0" rtlCol="0" anchor="ctr"/>
          <a:lstStyle/>
          <a:p>
            <a:pPr marL="0" indent="0">
              <a:buNone/>
            </a:pPr>
            <a:r>
              <a:rPr lang="en-US" sz="1300" b="1" dirty="0">
                <a:solidFill>
                  <a:srgbClr val="0F4C5C"/>
                </a:solidFill>
                <a:latin typeface="Calibri" pitchFamily="34" charset="0"/>
                <a:ea typeface="Calibri" pitchFamily="34" charset="-122"/>
                <a:cs typeface="Calibri" pitchFamily="34" charset="-120"/>
              </a:rPr>
              <a:t>Threshold sweep (Random Forest)</a:t>
            </a:r>
            <a:endParaRPr lang="en-US" sz="1300" dirty="0"/>
          </a:p>
        </p:txBody>
      </p:sp>
      <p:pic>
        <p:nvPicPr>
          <p:cNvPr id="6" name="Image 0" descr="deck_assets/threshold.jpg"/>
          <p:cNvPicPr>
            <a:picLocks noChangeAspect="1"/>
          </p:cNvPicPr>
          <p:nvPr/>
        </p:nvPicPr>
        <p:blipFill>
          <a:blip r:embed="rId3"/>
          <a:srcRect/>
          <a:stretch/>
        </p:blipFill>
        <p:spPr>
          <a:xfrm>
            <a:off x="685800" y="1874520"/>
            <a:ext cx="5212080" cy="2743200"/>
          </a:xfrm>
          <a:prstGeom prst="rect">
            <a:avLst/>
          </a:prstGeom>
        </p:spPr>
      </p:pic>
      <p:sp>
        <p:nvSpPr>
          <p:cNvPr id="7" name="Text 4"/>
          <p:cNvSpPr/>
          <p:nvPr/>
        </p:nvSpPr>
        <p:spPr>
          <a:xfrm>
            <a:off x="685800" y="4663440"/>
            <a:ext cx="5212080" cy="1600200"/>
          </a:xfrm>
          <a:prstGeom prst="rect">
            <a:avLst/>
          </a:prstGeom>
          <a:noFill/>
          <a:ln/>
        </p:spPr>
        <p:txBody>
          <a:bodyPr wrap="square" rtlCol="0" anchor="ctr"/>
          <a:lstStyle/>
          <a:p>
            <a:pPr marL="0" indent="0">
              <a:spcAft>
                <a:spcPts val="200"/>
              </a:spcAft>
              <a:buNone/>
            </a:pPr>
            <a:r>
              <a:rPr lang="en-US" sz="1150" b="1" dirty="0">
                <a:solidFill>
                  <a:srgbClr val="E2725B"/>
                </a:solidFill>
                <a:latin typeface="Calibri" pitchFamily="34" charset="0"/>
                <a:ea typeface="Calibri" pitchFamily="34" charset="-122"/>
                <a:cs typeface="Calibri" pitchFamily="34" charset="-120"/>
              </a:rPr>
              <a:t>0.50 default → 29% sensitivity. </a:t>
            </a:r>
            <a:endParaRPr lang="en-US" sz="1150" dirty="0"/>
          </a:p>
          <a:p>
            <a:pPr marL="0" indent="0">
              <a:spcAft>
                <a:spcPts val="200"/>
              </a:spcAft>
              <a:buNone/>
            </a:pPr>
            <a:r>
              <a:rPr lang="en-US" sz="1150" i="1" dirty="0">
                <a:solidFill>
                  <a:srgbClr val="4A5C5E"/>
                </a:solidFill>
                <a:latin typeface="Calibri" pitchFamily="34" charset="0"/>
                <a:ea typeface="Calibri" pitchFamily="34" charset="-122"/>
                <a:cs typeface="Calibri" pitchFamily="34" charset="-120"/>
              </a:rPr>
              <a:t>Misses 71% of diabetic respondents.</a:t>
            </a:r>
            <a:endParaRPr lang="en-US" sz="1150" dirty="0"/>
          </a:p>
          <a:p>
            <a:pPr marL="0" indent="0">
              <a:spcAft>
                <a:spcPts val="200"/>
              </a:spcAft>
              <a:buNone/>
            </a:pPr>
            <a:r>
              <a:rPr lang="en-US" sz="1150" b="1" dirty="0">
                <a:solidFill>
                  <a:srgbClr val="0F4C5C"/>
                </a:solidFill>
                <a:latin typeface="Calibri" pitchFamily="34" charset="0"/>
                <a:ea typeface="Calibri" pitchFamily="34" charset="-122"/>
                <a:cs typeface="Calibri" pitchFamily="34" charset="-120"/>
              </a:rPr>
              <a:t>0.30 → 57% sensitivity, </a:t>
            </a:r>
            <a:r>
              <a:rPr lang="en-US" sz="1150" dirty="0">
                <a:solidFill>
                  <a:srgbClr val="4A5C5E"/>
                </a:solidFill>
                <a:latin typeface="Calibri" pitchFamily="34" charset="0"/>
                <a:ea typeface="Calibri" pitchFamily="34" charset="-122"/>
                <a:cs typeface="Calibri" pitchFamily="34" charset="-120"/>
              </a:rPr>
              <a:t>specificity stays &gt; 0.80, F1 peaks here. </a:t>
            </a:r>
            <a:endParaRPr lang="en-US" sz="1150" dirty="0"/>
          </a:p>
          <a:p>
            <a:pPr marL="0" indent="0">
              <a:spcAft>
                <a:spcPts val="200"/>
              </a:spcAft>
              <a:buNone/>
            </a:pPr>
            <a:r>
              <a:rPr lang="en-US" sz="1150" i="1" dirty="0">
                <a:solidFill>
                  <a:srgbClr val="0F4C5C"/>
                </a:solidFill>
                <a:latin typeface="Calibri" pitchFamily="34" charset="0"/>
                <a:ea typeface="Calibri" pitchFamily="34" charset="-122"/>
                <a:cs typeface="Calibri" pitchFamily="34" charset="-120"/>
              </a:rPr>
              <a:t>→ Apply 0.30 in any screening deployment.</a:t>
            </a:r>
            <a:endParaRPr lang="en-US" sz="1150" dirty="0"/>
          </a:p>
        </p:txBody>
      </p:sp>
      <p:sp>
        <p:nvSpPr>
          <p:cNvPr id="8" name="Shape 5"/>
          <p:cNvSpPr/>
          <p:nvPr/>
        </p:nvSpPr>
        <p:spPr>
          <a:xfrm>
            <a:off x="6126480" y="1463040"/>
            <a:ext cx="5486400" cy="4846320"/>
          </a:xfrm>
          <a:prstGeom prst="rect">
            <a:avLst/>
          </a:prstGeom>
          <a:solidFill>
            <a:srgbClr val="F5F2EC"/>
          </a:solidFill>
          <a:ln w="6350">
            <a:solidFill>
              <a:srgbClr val="D9D2C7"/>
            </a:solidFill>
            <a:prstDash val="solid"/>
          </a:ln>
        </p:spPr>
        <p:txBody>
          <a:bodyPr/>
          <a:lstStyle/>
          <a:p>
            <a:endParaRPr lang="en-US" dirty="0"/>
          </a:p>
        </p:txBody>
      </p:sp>
      <p:sp>
        <p:nvSpPr>
          <p:cNvPr id="9" name="Text 6"/>
          <p:cNvSpPr/>
          <p:nvPr/>
        </p:nvSpPr>
        <p:spPr>
          <a:xfrm>
            <a:off x="6263640" y="1554480"/>
            <a:ext cx="5303520" cy="320040"/>
          </a:xfrm>
          <a:prstGeom prst="rect">
            <a:avLst/>
          </a:prstGeom>
          <a:noFill/>
          <a:ln/>
        </p:spPr>
        <p:txBody>
          <a:bodyPr wrap="square" lIns="0" tIns="0" rIns="0" bIns="0" rtlCol="0" anchor="ctr"/>
          <a:lstStyle/>
          <a:p>
            <a:pPr marL="0" indent="0">
              <a:buNone/>
            </a:pPr>
            <a:r>
              <a:rPr lang="en-US" sz="1300" b="1" dirty="0">
                <a:solidFill>
                  <a:srgbClr val="0F4C5C"/>
                </a:solidFill>
                <a:latin typeface="Calibri" pitchFamily="34" charset="0"/>
                <a:ea typeface="Calibri" pitchFamily="34" charset="-122"/>
                <a:cs typeface="Calibri" pitchFamily="34" charset="-120"/>
              </a:rPr>
              <a:t>SMOTE vs No SMOTE (RF)</a:t>
            </a:r>
            <a:endParaRPr lang="en-US" sz="1300" dirty="0"/>
          </a:p>
        </p:txBody>
      </p:sp>
      <p:pic>
        <p:nvPicPr>
          <p:cNvPr id="10" name="Image 1" descr="deck_assets/smote.jpg"/>
          <p:cNvPicPr>
            <a:picLocks noChangeAspect="1"/>
          </p:cNvPicPr>
          <p:nvPr/>
        </p:nvPicPr>
        <p:blipFill>
          <a:blip r:embed="rId4"/>
          <a:srcRect/>
          <a:stretch/>
        </p:blipFill>
        <p:spPr>
          <a:xfrm>
            <a:off x="6263640" y="1874520"/>
            <a:ext cx="5212080" cy="2743200"/>
          </a:xfrm>
          <a:prstGeom prst="rect">
            <a:avLst/>
          </a:prstGeom>
        </p:spPr>
      </p:pic>
      <p:sp>
        <p:nvSpPr>
          <p:cNvPr id="11" name="Text 7"/>
          <p:cNvSpPr/>
          <p:nvPr/>
        </p:nvSpPr>
        <p:spPr>
          <a:xfrm>
            <a:off x="6263640" y="4663440"/>
            <a:ext cx="5212080" cy="1600200"/>
          </a:xfrm>
          <a:prstGeom prst="rect">
            <a:avLst/>
          </a:prstGeom>
          <a:noFill/>
          <a:ln/>
        </p:spPr>
        <p:txBody>
          <a:bodyPr wrap="square" rtlCol="0" anchor="ctr"/>
          <a:lstStyle/>
          <a:p>
            <a:pPr marL="0" indent="0">
              <a:spcAft>
                <a:spcPts val="200"/>
              </a:spcAft>
              <a:buNone/>
            </a:pPr>
            <a:r>
              <a:rPr lang="en-US" sz="1150" b="1" dirty="0">
                <a:solidFill>
                  <a:srgbClr val="0F4C5C"/>
                </a:solidFill>
                <a:latin typeface="Calibri" pitchFamily="34" charset="0"/>
                <a:ea typeface="Calibri" pitchFamily="34" charset="-122"/>
                <a:cs typeface="Calibri" pitchFamily="34" charset="-120"/>
              </a:rPr>
              <a:t>Sensitivity: 0.196 → 0.289 </a:t>
            </a:r>
            <a:r>
              <a:rPr lang="en-US" sz="1150" dirty="0">
                <a:solidFill>
                  <a:srgbClr val="4A5C5E"/>
                </a:solidFill>
                <a:latin typeface="Calibri" pitchFamily="34" charset="0"/>
                <a:ea typeface="Calibri" pitchFamily="34" charset="-122"/>
                <a:cs typeface="Calibri" pitchFamily="34" charset="-120"/>
              </a:rPr>
              <a:t>(+49% relative). </a:t>
            </a:r>
            <a:endParaRPr lang="en-US" sz="1150" dirty="0"/>
          </a:p>
          <a:p>
            <a:pPr marL="0" indent="0">
              <a:spcAft>
                <a:spcPts val="200"/>
              </a:spcAft>
              <a:buNone/>
            </a:pPr>
            <a:r>
              <a:rPr lang="en-US" sz="1150" dirty="0">
                <a:solidFill>
                  <a:srgbClr val="4A5C5E"/>
                </a:solidFill>
                <a:latin typeface="Calibri" pitchFamily="34" charset="0"/>
                <a:ea typeface="Calibri" pitchFamily="34" charset="-122"/>
                <a:cs typeface="Calibri" pitchFamily="34" charset="-120"/>
              </a:rPr>
              <a:t>F1: +25%. AUC essentially unchanged. </a:t>
            </a:r>
            <a:endParaRPr lang="en-US" sz="1150" dirty="0"/>
          </a:p>
          <a:p>
            <a:pPr marL="0" indent="0">
              <a:spcAft>
                <a:spcPts val="200"/>
              </a:spcAft>
              <a:buNone/>
            </a:pPr>
            <a:r>
              <a:rPr lang="en-US" sz="1150" dirty="0">
                <a:solidFill>
                  <a:srgbClr val="4A5C5E"/>
                </a:solidFill>
                <a:latin typeface="Calibri" pitchFamily="34" charset="0"/>
                <a:ea typeface="Calibri" pitchFamily="34" charset="-122"/>
                <a:cs typeface="Calibri" pitchFamily="34" charset="-120"/>
              </a:rPr>
              <a:t>Specificity drops only 3pts (0.967 → 0.937). </a:t>
            </a:r>
            <a:endParaRPr lang="en-US" sz="1150" dirty="0"/>
          </a:p>
          <a:p>
            <a:pPr marL="0" indent="0">
              <a:spcAft>
                <a:spcPts val="200"/>
              </a:spcAft>
              <a:buNone/>
            </a:pPr>
            <a:r>
              <a:rPr lang="en-US" sz="1150" i="1" dirty="0">
                <a:solidFill>
                  <a:srgbClr val="0F4C5C"/>
                </a:solidFill>
                <a:latin typeface="Calibri" pitchFamily="34" charset="0"/>
                <a:ea typeface="Calibri" pitchFamily="34" charset="-122"/>
                <a:cs typeface="Calibri" pitchFamily="34" charset="-120"/>
              </a:rPr>
              <a:t>→ SMOTE is non-negotiable for any retrain.</a:t>
            </a:r>
            <a:endParaRPr lang="en-US" sz="1150" dirty="0"/>
          </a:p>
        </p:txBody>
      </p:sp>
      <p:sp>
        <p:nvSpPr>
          <p:cNvPr id="12" name="Shape 8"/>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13" name="Text 9"/>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14" name="Text 10"/>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07  •  FAIRNESS AUDIT</a:t>
            </a:r>
            <a:endParaRPr lang="en-US" sz="1100" dirty="0"/>
          </a:p>
        </p:txBody>
      </p:sp>
      <p:sp>
        <p:nvSpPr>
          <p:cNvPr id="3" name="Text 1"/>
          <p:cNvSpPr/>
          <p:nvPr/>
        </p:nvSpPr>
        <p:spPr>
          <a:xfrm>
            <a:off x="548640" y="640080"/>
            <a:ext cx="10972800" cy="640080"/>
          </a:xfrm>
          <a:prstGeom prst="rect">
            <a:avLst/>
          </a:prstGeom>
          <a:noFill/>
          <a:ln/>
        </p:spPr>
        <p:txBody>
          <a:bodyPr wrap="square" lIns="0" tIns="0" rIns="0" bIns="0"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An income-based sensitivity gap is the deployment risk</a:t>
            </a:r>
            <a:endParaRPr lang="en-US" sz="3000" dirty="0"/>
          </a:p>
        </p:txBody>
      </p:sp>
      <p:sp>
        <p:nvSpPr>
          <p:cNvPr id="4" name="Shape 2"/>
          <p:cNvSpPr/>
          <p:nvPr/>
        </p:nvSpPr>
        <p:spPr>
          <a:xfrm>
            <a:off x="548640" y="1463040"/>
            <a:ext cx="4937760" cy="3657600"/>
          </a:xfrm>
          <a:prstGeom prst="rect">
            <a:avLst/>
          </a:prstGeom>
          <a:solidFill>
            <a:srgbClr val="E2725B"/>
          </a:solidFill>
          <a:ln w="12700">
            <a:solidFill>
              <a:srgbClr val="E2725B"/>
            </a:solidFill>
            <a:prstDash val="solid"/>
          </a:ln>
        </p:spPr>
        <p:txBody>
          <a:bodyPr/>
          <a:lstStyle/>
          <a:p>
            <a:endParaRPr lang="en-US" dirty="0"/>
          </a:p>
        </p:txBody>
      </p:sp>
      <p:sp>
        <p:nvSpPr>
          <p:cNvPr id="5" name="Text 3"/>
          <p:cNvSpPr/>
          <p:nvPr/>
        </p:nvSpPr>
        <p:spPr>
          <a:xfrm>
            <a:off x="777240" y="1600200"/>
            <a:ext cx="4572000" cy="320040"/>
          </a:xfrm>
          <a:prstGeom prst="rect">
            <a:avLst/>
          </a:prstGeom>
          <a:noFill/>
          <a:ln/>
        </p:spPr>
        <p:txBody>
          <a:bodyPr wrap="square" lIns="0" tIns="0" rIns="0" bIns="0" rtlCol="0" anchor="ctr"/>
          <a:lstStyle/>
          <a:p>
            <a:pPr marL="0" indent="0">
              <a:buNone/>
            </a:pPr>
            <a:r>
              <a:rPr lang="en-US" sz="1100" b="1" kern="0" spc="500" dirty="0">
                <a:solidFill>
                  <a:srgbClr val="F5F2EC"/>
                </a:solidFill>
                <a:latin typeface="Calibri" pitchFamily="34" charset="0"/>
                <a:ea typeface="Calibri" pitchFamily="34" charset="-122"/>
                <a:cs typeface="Calibri" pitchFamily="34" charset="-120"/>
              </a:rPr>
              <a:t>BIAS DETECTED</a:t>
            </a:r>
            <a:endParaRPr lang="en-US" sz="1100" dirty="0"/>
          </a:p>
        </p:txBody>
      </p:sp>
      <p:sp>
        <p:nvSpPr>
          <p:cNvPr id="6" name="Text 4"/>
          <p:cNvSpPr/>
          <p:nvPr/>
        </p:nvSpPr>
        <p:spPr>
          <a:xfrm>
            <a:off x="777240" y="1920240"/>
            <a:ext cx="4572000" cy="1280160"/>
          </a:xfrm>
          <a:prstGeom prst="rect">
            <a:avLst/>
          </a:prstGeom>
          <a:noFill/>
          <a:ln/>
        </p:spPr>
        <p:txBody>
          <a:bodyPr wrap="square" lIns="0" tIns="0" rIns="0" bIns="0" rtlCol="0" anchor="ctr"/>
          <a:lstStyle/>
          <a:p>
            <a:pPr marL="0" indent="0">
              <a:buNone/>
            </a:pPr>
            <a:r>
              <a:rPr lang="en-US" sz="9600" b="1" dirty="0">
                <a:solidFill>
                  <a:srgbClr val="FFFFFF"/>
                </a:solidFill>
                <a:latin typeface="Georgia" pitchFamily="34" charset="0"/>
                <a:ea typeface="Georgia" pitchFamily="34" charset="-122"/>
                <a:cs typeface="Georgia" pitchFamily="34" charset="-120"/>
              </a:rPr>
              <a:t>0.161</a:t>
            </a:r>
            <a:endParaRPr lang="en-US" sz="9600" dirty="0"/>
          </a:p>
        </p:txBody>
      </p:sp>
      <p:sp>
        <p:nvSpPr>
          <p:cNvPr id="7" name="Text 5"/>
          <p:cNvSpPr/>
          <p:nvPr/>
        </p:nvSpPr>
        <p:spPr>
          <a:xfrm>
            <a:off x="777240" y="3246120"/>
            <a:ext cx="4572000" cy="365760"/>
          </a:xfrm>
          <a:prstGeom prst="rect">
            <a:avLst/>
          </a:prstGeom>
          <a:noFill/>
          <a:ln/>
        </p:spPr>
        <p:txBody>
          <a:bodyPr wrap="square" lIns="0" tIns="0" rIns="0" bIns="0" rtlCol="0" anchor="ctr"/>
          <a:lstStyle/>
          <a:p>
            <a:pPr marL="0" indent="0">
              <a:buNone/>
            </a:pPr>
            <a:r>
              <a:rPr lang="en-US" sz="1400" i="1" dirty="0">
                <a:solidFill>
                  <a:srgbClr val="F5F2EC"/>
                </a:solidFill>
                <a:latin typeface="Calibri" pitchFamily="34" charset="0"/>
                <a:ea typeface="Calibri" pitchFamily="34" charset="-122"/>
                <a:cs typeface="Calibri" pitchFamily="34" charset="-120"/>
              </a:rPr>
              <a:t>sensitivity gap by income</a:t>
            </a:r>
            <a:endParaRPr lang="en-US" sz="1400" dirty="0"/>
          </a:p>
        </p:txBody>
      </p:sp>
      <p:sp>
        <p:nvSpPr>
          <p:cNvPr id="8" name="Text 6"/>
          <p:cNvSpPr/>
          <p:nvPr/>
        </p:nvSpPr>
        <p:spPr>
          <a:xfrm>
            <a:off x="777240" y="3703320"/>
            <a:ext cx="4572000" cy="13258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Lower-income diabetic respondents are detected at 37%; higher-income diabetic respondents at only 21%. Wealthy diabetic individuals are systematically under-screened, likely because they present with less stereotypical risk profiles.</a:t>
            </a:r>
            <a:endParaRPr lang="en-US" sz="1150" dirty="0"/>
          </a:p>
        </p:txBody>
      </p:sp>
      <p:pic>
        <p:nvPicPr>
          <p:cNvPr id="9" name="Image 0" descr="deck_assets/fair_income.jpg"/>
          <p:cNvPicPr>
            <a:picLocks noChangeAspect="1"/>
          </p:cNvPicPr>
          <p:nvPr/>
        </p:nvPicPr>
        <p:blipFill>
          <a:blip r:embed="rId3"/>
          <a:srcRect/>
          <a:stretch/>
        </p:blipFill>
        <p:spPr>
          <a:xfrm>
            <a:off x="5669280" y="1463040"/>
            <a:ext cx="5943600" cy="3383280"/>
          </a:xfrm>
          <a:prstGeom prst="rect">
            <a:avLst/>
          </a:prstGeom>
        </p:spPr>
      </p:pic>
      <p:sp>
        <p:nvSpPr>
          <p:cNvPr id="10" name="Shape 7"/>
          <p:cNvSpPr/>
          <p:nvPr/>
        </p:nvSpPr>
        <p:spPr>
          <a:xfrm>
            <a:off x="5669280" y="4983480"/>
            <a:ext cx="1874520" cy="868680"/>
          </a:xfrm>
          <a:prstGeom prst="rect">
            <a:avLst/>
          </a:prstGeom>
          <a:solidFill>
            <a:srgbClr val="F5F2EC"/>
          </a:solidFill>
          <a:ln w="6350">
            <a:solidFill>
              <a:srgbClr val="D9D2C7"/>
            </a:solidFill>
            <a:prstDash val="solid"/>
          </a:ln>
        </p:spPr>
        <p:txBody>
          <a:bodyPr/>
          <a:lstStyle/>
          <a:p>
            <a:endParaRPr lang="en-US" dirty="0"/>
          </a:p>
        </p:txBody>
      </p:sp>
      <p:sp>
        <p:nvSpPr>
          <p:cNvPr id="11" name="Shape 8"/>
          <p:cNvSpPr/>
          <p:nvPr/>
        </p:nvSpPr>
        <p:spPr>
          <a:xfrm>
            <a:off x="5669280" y="4983480"/>
            <a:ext cx="73152" cy="868680"/>
          </a:xfrm>
          <a:prstGeom prst="rect">
            <a:avLst/>
          </a:prstGeom>
          <a:solidFill>
            <a:srgbClr val="1E8E8C"/>
          </a:solidFill>
          <a:ln w="12700">
            <a:solidFill>
              <a:srgbClr val="1E8E8C"/>
            </a:solidFill>
            <a:prstDash val="solid"/>
          </a:ln>
        </p:spPr>
        <p:txBody>
          <a:bodyPr/>
          <a:lstStyle/>
          <a:p>
            <a:endParaRPr lang="en-US" dirty="0"/>
          </a:p>
        </p:txBody>
      </p:sp>
      <p:sp>
        <p:nvSpPr>
          <p:cNvPr id="12" name="Text 9"/>
          <p:cNvSpPr/>
          <p:nvPr/>
        </p:nvSpPr>
        <p:spPr>
          <a:xfrm>
            <a:off x="5833872" y="5029200"/>
            <a:ext cx="1691640" cy="411480"/>
          </a:xfrm>
          <a:prstGeom prst="rect">
            <a:avLst/>
          </a:prstGeom>
          <a:noFill/>
          <a:ln/>
        </p:spPr>
        <p:txBody>
          <a:bodyPr wrap="square" lIns="0" tIns="0" rIns="0" bIns="0" rtlCol="0" anchor="ctr"/>
          <a:lstStyle/>
          <a:p>
            <a:pPr marL="0" indent="0">
              <a:buNone/>
            </a:pPr>
            <a:r>
              <a:rPr lang="en-US" sz="1050" b="1" dirty="0">
                <a:solidFill>
                  <a:srgbClr val="0F4C5C"/>
                </a:solidFill>
                <a:latin typeface="Calibri" pitchFamily="34" charset="0"/>
                <a:ea typeface="Calibri" pitchFamily="34" charset="-122"/>
                <a:cs typeface="Calibri" pitchFamily="34" charset="-120"/>
              </a:rPr>
              <a:t>Sex (gap 0.006)</a:t>
            </a:r>
            <a:endParaRPr lang="en-US" sz="1050" dirty="0"/>
          </a:p>
        </p:txBody>
      </p:sp>
      <p:sp>
        <p:nvSpPr>
          <p:cNvPr id="13" name="Text 10"/>
          <p:cNvSpPr/>
          <p:nvPr/>
        </p:nvSpPr>
        <p:spPr>
          <a:xfrm>
            <a:off x="5833872" y="5413248"/>
            <a:ext cx="1691640" cy="411480"/>
          </a:xfrm>
          <a:prstGeom prst="rect">
            <a:avLst/>
          </a:prstGeom>
          <a:noFill/>
          <a:ln/>
        </p:spPr>
        <p:txBody>
          <a:bodyPr wrap="square" lIns="0" tIns="0" rIns="0" bIns="0" rtlCol="0" anchor="ctr"/>
          <a:lstStyle/>
          <a:p>
            <a:pPr marL="0" indent="0">
              <a:buNone/>
            </a:pPr>
            <a:r>
              <a:rPr lang="en-US" sz="1400" b="1" dirty="0">
                <a:solidFill>
                  <a:srgbClr val="1E8E8C"/>
                </a:solidFill>
                <a:latin typeface="Georgia" pitchFamily="34" charset="0"/>
                <a:ea typeface="Georgia" pitchFamily="34" charset="-122"/>
                <a:cs typeface="Georgia" pitchFamily="34" charset="-120"/>
              </a:rPr>
              <a:t>OK</a:t>
            </a:r>
            <a:endParaRPr lang="en-US" sz="1400" dirty="0"/>
          </a:p>
        </p:txBody>
      </p:sp>
      <p:sp>
        <p:nvSpPr>
          <p:cNvPr id="14" name="Shape 11"/>
          <p:cNvSpPr/>
          <p:nvPr/>
        </p:nvSpPr>
        <p:spPr>
          <a:xfrm>
            <a:off x="7680960" y="4983480"/>
            <a:ext cx="1874520" cy="868680"/>
          </a:xfrm>
          <a:prstGeom prst="rect">
            <a:avLst/>
          </a:prstGeom>
          <a:solidFill>
            <a:srgbClr val="F5F2EC"/>
          </a:solidFill>
          <a:ln w="6350">
            <a:solidFill>
              <a:srgbClr val="D9D2C7"/>
            </a:solidFill>
            <a:prstDash val="solid"/>
          </a:ln>
        </p:spPr>
        <p:txBody>
          <a:bodyPr/>
          <a:lstStyle/>
          <a:p>
            <a:endParaRPr lang="en-US" dirty="0"/>
          </a:p>
        </p:txBody>
      </p:sp>
      <p:sp>
        <p:nvSpPr>
          <p:cNvPr id="15" name="Shape 12"/>
          <p:cNvSpPr/>
          <p:nvPr/>
        </p:nvSpPr>
        <p:spPr>
          <a:xfrm>
            <a:off x="7680960" y="4983480"/>
            <a:ext cx="73152" cy="868680"/>
          </a:xfrm>
          <a:prstGeom prst="rect">
            <a:avLst/>
          </a:prstGeom>
          <a:solidFill>
            <a:srgbClr val="1E8E8C"/>
          </a:solidFill>
          <a:ln w="12700">
            <a:solidFill>
              <a:srgbClr val="1E8E8C"/>
            </a:solidFill>
            <a:prstDash val="solid"/>
          </a:ln>
        </p:spPr>
        <p:txBody>
          <a:bodyPr/>
          <a:lstStyle/>
          <a:p>
            <a:endParaRPr lang="en-US" dirty="0"/>
          </a:p>
        </p:txBody>
      </p:sp>
      <p:sp>
        <p:nvSpPr>
          <p:cNvPr id="16" name="Text 13"/>
          <p:cNvSpPr/>
          <p:nvPr/>
        </p:nvSpPr>
        <p:spPr>
          <a:xfrm>
            <a:off x="7845552" y="5029200"/>
            <a:ext cx="1691640" cy="411480"/>
          </a:xfrm>
          <a:prstGeom prst="rect">
            <a:avLst/>
          </a:prstGeom>
          <a:noFill/>
          <a:ln/>
        </p:spPr>
        <p:txBody>
          <a:bodyPr wrap="square" lIns="0" tIns="0" rIns="0" bIns="0" rtlCol="0" anchor="ctr"/>
          <a:lstStyle/>
          <a:p>
            <a:pPr marL="0" indent="0">
              <a:buNone/>
            </a:pPr>
            <a:r>
              <a:rPr lang="en-US" sz="1050" b="1" dirty="0">
                <a:solidFill>
                  <a:srgbClr val="0F4C5C"/>
                </a:solidFill>
                <a:latin typeface="Calibri" pitchFamily="34" charset="0"/>
                <a:ea typeface="Calibri" pitchFamily="34" charset="-122"/>
                <a:cs typeface="Calibri" pitchFamily="34" charset="-120"/>
              </a:rPr>
              <a:t>Age (gap 0.080)</a:t>
            </a:r>
            <a:endParaRPr lang="en-US" sz="1050" dirty="0"/>
          </a:p>
        </p:txBody>
      </p:sp>
      <p:sp>
        <p:nvSpPr>
          <p:cNvPr id="17" name="Text 14"/>
          <p:cNvSpPr/>
          <p:nvPr/>
        </p:nvSpPr>
        <p:spPr>
          <a:xfrm>
            <a:off x="7845552" y="5413248"/>
            <a:ext cx="1691640" cy="411480"/>
          </a:xfrm>
          <a:prstGeom prst="rect">
            <a:avLst/>
          </a:prstGeom>
          <a:noFill/>
          <a:ln/>
        </p:spPr>
        <p:txBody>
          <a:bodyPr wrap="square" lIns="0" tIns="0" rIns="0" bIns="0" rtlCol="0" anchor="ctr"/>
          <a:lstStyle/>
          <a:p>
            <a:pPr marL="0" indent="0">
              <a:buNone/>
            </a:pPr>
            <a:r>
              <a:rPr lang="en-US" sz="1400" b="1" dirty="0">
                <a:solidFill>
                  <a:srgbClr val="1E8E8C"/>
                </a:solidFill>
                <a:latin typeface="Georgia" pitchFamily="34" charset="0"/>
                <a:ea typeface="Georgia" pitchFamily="34" charset="-122"/>
                <a:cs typeface="Georgia" pitchFamily="34" charset="-120"/>
              </a:rPr>
              <a:t>OK</a:t>
            </a:r>
            <a:endParaRPr lang="en-US" sz="1400" dirty="0"/>
          </a:p>
        </p:txBody>
      </p:sp>
      <p:sp>
        <p:nvSpPr>
          <p:cNvPr id="18" name="Shape 15"/>
          <p:cNvSpPr/>
          <p:nvPr/>
        </p:nvSpPr>
        <p:spPr>
          <a:xfrm>
            <a:off x="9692640" y="4983480"/>
            <a:ext cx="1874520" cy="868680"/>
          </a:xfrm>
          <a:prstGeom prst="rect">
            <a:avLst/>
          </a:prstGeom>
          <a:solidFill>
            <a:srgbClr val="F5F2EC"/>
          </a:solidFill>
          <a:ln w="6350">
            <a:solidFill>
              <a:srgbClr val="D9D2C7"/>
            </a:solidFill>
            <a:prstDash val="solid"/>
          </a:ln>
        </p:spPr>
        <p:txBody>
          <a:bodyPr/>
          <a:lstStyle/>
          <a:p>
            <a:endParaRPr lang="en-US" dirty="0"/>
          </a:p>
        </p:txBody>
      </p:sp>
      <p:sp>
        <p:nvSpPr>
          <p:cNvPr id="19" name="Shape 16"/>
          <p:cNvSpPr/>
          <p:nvPr/>
        </p:nvSpPr>
        <p:spPr>
          <a:xfrm>
            <a:off x="9692640" y="4983480"/>
            <a:ext cx="73152" cy="868680"/>
          </a:xfrm>
          <a:prstGeom prst="rect">
            <a:avLst/>
          </a:prstGeom>
          <a:solidFill>
            <a:srgbClr val="E2725B"/>
          </a:solidFill>
          <a:ln w="12700">
            <a:solidFill>
              <a:srgbClr val="E2725B"/>
            </a:solidFill>
            <a:prstDash val="solid"/>
          </a:ln>
        </p:spPr>
        <p:txBody>
          <a:bodyPr/>
          <a:lstStyle/>
          <a:p>
            <a:endParaRPr lang="en-US" dirty="0"/>
          </a:p>
        </p:txBody>
      </p:sp>
      <p:sp>
        <p:nvSpPr>
          <p:cNvPr id="20" name="Text 17"/>
          <p:cNvSpPr/>
          <p:nvPr/>
        </p:nvSpPr>
        <p:spPr>
          <a:xfrm>
            <a:off x="9857232" y="5029200"/>
            <a:ext cx="1691640" cy="411480"/>
          </a:xfrm>
          <a:prstGeom prst="rect">
            <a:avLst/>
          </a:prstGeom>
          <a:noFill/>
          <a:ln/>
        </p:spPr>
        <p:txBody>
          <a:bodyPr wrap="square" lIns="0" tIns="0" rIns="0" bIns="0" rtlCol="0" anchor="ctr"/>
          <a:lstStyle/>
          <a:p>
            <a:pPr marL="0" indent="0">
              <a:buNone/>
            </a:pPr>
            <a:r>
              <a:rPr lang="en-US" sz="1050" b="1" dirty="0">
                <a:solidFill>
                  <a:srgbClr val="0F4C5C"/>
                </a:solidFill>
                <a:latin typeface="Calibri" pitchFamily="34" charset="0"/>
                <a:ea typeface="Calibri" pitchFamily="34" charset="-122"/>
                <a:cs typeface="Calibri" pitchFamily="34" charset="-120"/>
              </a:rPr>
              <a:t>Income (gap 0.161)</a:t>
            </a:r>
            <a:endParaRPr lang="en-US" sz="1050" dirty="0"/>
          </a:p>
        </p:txBody>
      </p:sp>
      <p:sp>
        <p:nvSpPr>
          <p:cNvPr id="21" name="Text 18"/>
          <p:cNvSpPr/>
          <p:nvPr/>
        </p:nvSpPr>
        <p:spPr>
          <a:xfrm>
            <a:off x="9857232" y="5413248"/>
            <a:ext cx="1691640" cy="411480"/>
          </a:xfrm>
          <a:prstGeom prst="rect">
            <a:avLst/>
          </a:prstGeom>
          <a:noFill/>
          <a:ln/>
        </p:spPr>
        <p:txBody>
          <a:bodyPr wrap="square" lIns="0" tIns="0" rIns="0" bIns="0" rtlCol="0" anchor="ctr"/>
          <a:lstStyle/>
          <a:p>
            <a:pPr marL="0" indent="0">
              <a:buNone/>
            </a:pPr>
            <a:r>
              <a:rPr lang="en-US" sz="1400" b="1" dirty="0">
                <a:solidFill>
                  <a:srgbClr val="E2725B"/>
                </a:solidFill>
                <a:latin typeface="Georgia" pitchFamily="34" charset="0"/>
                <a:ea typeface="Georgia" pitchFamily="34" charset="-122"/>
                <a:cs typeface="Georgia" pitchFamily="34" charset="-120"/>
              </a:rPr>
              <a:t>BIAS</a:t>
            </a:r>
            <a:endParaRPr lang="en-US" sz="1400" dirty="0"/>
          </a:p>
        </p:txBody>
      </p:sp>
      <p:sp>
        <p:nvSpPr>
          <p:cNvPr id="22" name="Shape 19"/>
          <p:cNvSpPr/>
          <p:nvPr/>
        </p:nvSpPr>
        <p:spPr>
          <a:xfrm>
            <a:off x="548640" y="5897880"/>
            <a:ext cx="11064240" cy="457200"/>
          </a:xfrm>
          <a:prstGeom prst="rect">
            <a:avLst/>
          </a:prstGeom>
          <a:solidFill>
            <a:srgbClr val="0F4C5C"/>
          </a:solidFill>
          <a:ln w="12700">
            <a:solidFill>
              <a:srgbClr val="0F4C5C"/>
            </a:solidFill>
            <a:prstDash val="solid"/>
          </a:ln>
        </p:spPr>
        <p:txBody>
          <a:bodyPr/>
          <a:lstStyle/>
          <a:p>
            <a:endParaRPr lang="en-US" dirty="0"/>
          </a:p>
        </p:txBody>
      </p:sp>
      <p:sp>
        <p:nvSpPr>
          <p:cNvPr id="23" name="Text 20"/>
          <p:cNvSpPr/>
          <p:nvPr/>
        </p:nvSpPr>
        <p:spPr>
          <a:xfrm>
            <a:off x="777240" y="5897880"/>
            <a:ext cx="1097280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RECOMMENDATION  •  Adversarial debiasing or per-income reweighting before deployment. Threshold acceptance: gap must drop below 0.10.</a:t>
            </a:r>
            <a:endParaRPr lang="en-US" sz="1100" dirty="0"/>
          </a:p>
        </p:txBody>
      </p:sp>
      <p:sp>
        <p:nvSpPr>
          <p:cNvPr id="24" name="Shape 21"/>
          <p:cNvSpPr/>
          <p:nvPr/>
        </p:nvSpPr>
        <p:spPr>
          <a:xfrm>
            <a:off x="548640" y="6446520"/>
            <a:ext cx="11064240" cy="0"/>
          </a:xfrm>
          <a:prstGeom prst="line">
            <a:avLst/>
          </a:prstGeom>
          <a:noFill/>
          <a:ln w="9525">
            <a:solidFill>
              <a:srgbClr val="D9D2C7"/>
            </a:solidFill>
            <a:prstDash val="solid"/>
          </a:ln>
        </p:spPr>
        <p:txBody>
          <a:bodyPr/>
          <a:lstStyle/>
          <a:p>
            <a:endParaRPr lang="en-US" dirty="0"/>
          </a:p>
        </p:txBody>
      </p:sp>
      <p:sp>
        <p:nvSpPr>
          <p:cNvPr id="25" name="Text 22"/>
          <p:cNvSpPr/>
          <p:nvPr/>
        </p:nvSpPr>
        <p:spPr>
          <a:xfrm>
            <a:off x="548640" y="6492240"/>
            <a:ext cx="7315200" cy="274320"/>
          </a:xfrm>
          <a:prstGeom prst="rect">
            <a:avLst/>
          </a:prstGeom>
          <a:noFill/>
          <a:ln/>
        </p:spPr>
        <p:txBody>
          <a:bodyPr wrap="square" lIns="0" tIns="0" rIns="0" bIns="0" rtlCol="0" anchor="ctr"/>
          <a:lstStyle/>
          <a:p>
            <a:pPr marL="0" indent="0">
              <a:buNone/>
            </a:pPr>
            <a:r>
              <a:rPr lang="en-US" sz="900" dirty="0">
                <a:solidFill>
                  <a:srgbClr val="8A9A9C"/>
                </a:solidFill>
                <a:latin typeface="Calibri" pitchFamily="34" charset="0"/>
                <a:ea typeface="Calibri" pitchFamily="34" charset="-122"/>
                <a:cs typeface="Calibri" pitchFamily="34" charset="-120"/>
              </a:rPr>
              <a:t>CDC Diabetes Health Indicators  •  Group Project</a:t>
            </a:r>
            <a:endParaRPr lang="en-US" sz="900" dirty="0"/>
          </a:p>
        </p:txBody>
      </p:sp>
      <p:sp>
        <p:nvSpPr>
          <p:cNvPr id="26" name="Text 23"/>
          <p:cNvSpPr/>
          <p:nvPr/>
        </p:nvSpPr>
        <p:spPr>
          <a:xfrm>
            <a:off x="10698480" y="6492240"/>
            <a:ext cx="914400" cy="274320"/>
          </a:xfrm>
          <a:prstGeom prst="rect">
            <a:avLst/>
          </a:prstGeom>
          <a:noFill/>
          <a:ln/>
        </p:spPr>
        <p:txBody>
          <a:bodyPr wrap="square" lIns="0" tIns="0" rIns="0" bIns="0" rtlCol="0" anchor="ctr"/>
          <a:lstStyle/>
          <a:p>
            <a:pPr marL="0" indent="0" algn="r">
              <a:buNone/>
            </a:pPr>
            <a:r>
              <a:rPr lang="en-US" sz="900" dirty="0">
                <a:solidFill>
                  <a:srgbClr val="8A9A9C"/>
                </a:solidFill>
                <a:latin typeface="Calibri" pitchFamily="34" charset="0"/>
                <a:ea typeface="Calibri" pitchFamily="34" charset="-122"/>
                <a:cs typeface="Calibri"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548640" y="457200"/>
            <a:ext cx="109728" cy="640080"/>
          </a:xfrm>
          <a:prstGeom prst="rect">
            <a:avLst/>
          </a:prstGeom>
          <a:solidFill>
            <a:srgbClr val="E2725B"/>
          </a:solidFill>
          <a:ln w="12700">
            <a:solidFill>
              <a:srgbClr val="E2725B"/>
            </a:solidFill>
            <a:prstDash val="solid"/>
          </a:ln>
        </p:spPr>
        <p:txBody>
          <a:bodyPr/>
          <a:lstStyle/>
          <a:p>
            <a:endParaRPr lang="en-US" dirty="0"/>
          </a:p>
        </p:txBody>
      </p:sp>
      <p:sp>
        <p:nvSpPr>
          <p:cNvPr id="3" name="Text 1"/>
          <p:cNvSpPr/>
          <p:nvPr/>
        </p:nvSpPr>
        <p:spPr>
          <a:xfrm>
            <a:off x="868680" y="457200"/>
            <a:ext cx="10058400" cy="274320"/>
          </a:xfrm>
          <a:prstGeom prst="rect">
            <a:avLst/>
          </a:prstGeom>
          <a:noFill/>
          <a:ln/>
        </p:spPr>
        <p:txBody>
          <a:bodyPr wrap="square" lIns="0" tIns="0" rIns="0" bIns="0" rtlCol="0" anchor="ctr"/>
          <a:lstStyle/>
          <a:p>
            <a:pPr marL="0" indent="0">
              <a:buNone/>
            </a:pPr>
            <a:r>
              <a:rPr lang="en-US" sz="1100" b="1" kern="0" spc="400" dirty="0">
                <a:solidFill>
                  <a:srgbClr val="E2725B"/>
                </a:solidFill>
                <a:latin typeface="Calibri" pitchFamily="34" charset="0"/>
                <a:ea typeface="Calibri" pitchFamily="34" charset="-122"/>
                <a:cs typeface="Calibri" pitchFamily="34" charset="-120"/>
              </a:rPr>
              <a:t>08  •  RECOMMENDATIONS  &amp;  FUTURE WORK</a:t>
            </a:r>
            <a:endParaRPr lang="en-US" sz="1100" dirty="0"/>
          </a:p>
        </p:txBody>
      </p:sp>
      <p:sp>
        <p:nvSpPr>
          <p:cNvPr id="4" name="Text 2"/>
          <p:cNvSpPr/>
          <p:nvPr/>
        </p:nvSpPr>
        <p:spPr>
          <a:xfrm>
            <a:off x="868680" y="713232"/>
            <a:ext cx="10972800" cy="54864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What we ship — and what we'd build next</a:t>
            </a:r>
            <a:endParaRPr lang="en-US" sz="2800" dirty="0"/>
          </a:p>
        </p:txBody>
      </p:sp>
      <p:sp>
        <p:nvSpPr>
          <p:cNvPr id="5" name="Shape 3"/>
          <p:cNvSpPr/>
          <p:nvPr/>
        </p:nvSpPr>
        <p:spPr>
          <a:xfrm>
            <a:off x="548640" y="1554480"/>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6" name="Shape 4"/>
          <p:cNvSpPr/>
          <p:nvPr/>
        </p:nvSpPr>
        <p:spPr>
          <a:xfrm>
            <a:off x="731520" y="1783080"/>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7" name="Text 5"/>
          <p:cNvSpPr/>
          <p:nvPr/>
        </p:nvSpPr>
        <p:spPr>
          <a:xfrm>
            <a:off x="731520" y="178308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1645920" y="1737360"/>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Deploy XGBoost for screening</a:t>
            </a:r>
            <a:endParaRPr lang="en-US" sz="1400" dirty="0"/>
          </a:p>
        </p:txBody>
      </p:sp>
      <p:sp>
        <p:nvSpPr>
          <p:cNvPr id="9" name="Text 7"/>
          <p:cNvSpPr/>
          <p:nvPr/>
        </p:nvSpPr>
        <p:spPr>
          <a:xfrm>
            <a:off x="1645920" y="2148840"/>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AUC 0.804 — best risk stratification on routine survey data; no labs required.</a:t>
            </a:r>
            <a:endParaRPr lang="en-US" sz="1050" dirty="0"/>
          </a:p>
        </p:txBody>
      </p:sp>
      <p:sp>
        <p:nvSpPr>
          <p:cNvPr id="10" name="Shape 8"/>
          <p:cNvSpPr/>
          <p:nvPr/>
        </p:nvSpPr>
        <p:spPr>
          <a:xfrm>
            <a:off x="6172200" y="1554480"/>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11" name="Shape 9"/>
          <p:cNvSpPr/>
          <p:nvPr/>
        </p:nvSpPr>
        <p:spPr>
          <a:xfrm>
            <a:off x="6355080" y="1783080"/>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12" name="Text 10"/>
          <p:cNvSpPr/>
          <p:nvPr/>
        </p:nvSpPr>
        <p:spPr>
          <a:xfrm>
            <a:off x="6355080" y="178308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7269480" y="1737360"/>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 Logistic when explanation matters</a:t>
            </a:r>
            <a:endParaRPr lang="en-US" sz="1400" dirty="0"/>
          </a:p>
        </p:txBody>
      </p:sp>
      <p:sp>
        <p:nvSpPr>
          <p:cNvPr id="14" name="Text 12"/>
          <p:cNvSpPr/>
          <p:nvPr/>
        </p:nvSpPr>
        <p:spPr>
          <a:xfrm>
            <a:off x="7269480" y="2148840"/>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AUC 0.798, full odds-ratio interpretability, well-calibrated probabilities.</a:t>
            </a:r>
            <a:endParaRPr lang="en-US" sz="1050" dirty="0"/>
          </a:p>
        </p:txBody>
      </p:sp>
      <p:sp>
        <p:nvSpPr>
          <p:cNvPr id="15" name="Shape 13"/>
          <p:cNvSpPr/>
          <p:nvPr/>
        </p:nvSpPr>
        <p:spPr>
          <a:xfrm>
            <a:off x="548640" y="3136392"/>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16" name="Shape 14"/>
          <p:cNvSpPr/>
          <p:nvPr/>
        </p:nvSpPr>
        <p:spPr>
          <a:xfrm>
            <a:off x="731520" y="3364992"/>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17" name="Text 15"/>
          <p:cNvSpPr/>
          <p:nvPr/>
        </p:nvSpPr>
        <p:spPr>
          <a:xfrm>
            <a:off x="731520" y="3364992"/>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18" name="Text 16"/>
          <p:cNvSpPr/>
          <p:nvPr/>
        </p:nvSpPr>
        <p:spPr>
          <a:xfrm>
            <a:off x="1645920" y="3319272"/>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Lower decision threshold to 0.30</a:t>
            </a:r>
            <a:endParaRPr lang="en-US" sz="1400" dirty="0"/>
          </a:p>
        </p:txBody>
      </p:sp>
      <p:sp>
        <p:nvSpPr>
          <p:cNvPr id="19" name="Text 17"/>
          <p:cNvSpPr/>
          <p:nvPr/>
        </p:nvSpPr>
        <p:spPr>
          <a:xfrm>
            <a:off x="1645920" y="3730752"/>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Doubles true-positive detection; specificity stays above 0.80.</a:t>
            </a:r>
            <a:endParaRPr lang="en-US" sz="1050" dirty="0"/>
          </a:p>
        </p:txBody>
      </p:sp>
      <p:sp>
        <p:nvSpPr>
          <p:cNvPr id="20" name="Shape 18"/>
          <p:cNvSpPr/>
          <p:nvPr/>
        </p:nvSpPr>
        <p:spPr>
          <a:xfrm>
            <a:off x="6172200" y="3136392"/>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21" name="Shape 19"/>
          <p:cNvSpPr/>
          <p:nvPr/>
        </p:nvSpPr>
        <p:spPr>
          <a:xfrm>
            <a:off x="6355080" y="3364992"/>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22" name="Text 20"/>
          <p:cNvSpPr/>
          <p:nvPr/>
        </p:nvSpPr>
        <p:spPr>
          <a:xfrm>
            <a:off x="6355080" y="3364992"/>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23" name="Text 21"/>
          <p:cNvSpPr/>
          <p:nvPr/>
        </p:nvSpPr>
        <p:spPr>
          <a:xfrm>
            <a:off x="7269480" y="3319272"/>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Apply Platt scaling on RF / XGBoost</a:t>
            </a:r>
            <a:endParaRPr lang="en-US" sz="1400" dirty="0"/>
          </a:p>
        </p:txBody>
      </p:sp>
      <p:sp>
        <p:nvSpPr>
          <p:cNvPr id="24" name="Text 22"/>
          <p:cNvSpPr/>
          <p:nvPr/>
        </p:nvSpPr>
        <p:spPr>
          <a:xfrm>
            <a:off x="7269480" y="3730752"/>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Raw probabilities are over-confident in the 0.3–0.6 mid-range.</a:t>
            </a:r>
            <a:endParaRPr lang="en-US" sz="1050" dirty="0"/>
          </a:p>
        </p:txBody>
      </p:sp>
      <p:sp>
        <p:nvSpPr>
          <p:cNvPr id="25" name="Shape 23"/>
          <p:cNvSpPr/>
          <p:nvPr/>
        </p:nvSpPr>
        <p:spPr>
          <a:xfrm>
            <a:off x="548640" y="4718304"/>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26" name="Shape 24"/>
          <p:cNvSpPr/>
          <p:nvPr/>
        </p:nvSpPr>
        <p:spPr>
          <a:xfrm>
            <a:off x="731520" y="4946904"/>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27" name="Text 25"/>
          <p:cNvSpPr/>
          <p:nvPr/>
        </p:nvSpPr>
        <p:spPr>
          <a:xfrm>
            <a:off x="731520" y="4946904"/>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5</a:t>
            </a:r>
            <a:endParaRPr lang="en-US" sz="2800" dirty="0"/>
          </a:p>
        </p:txBody>
      </p:sp>
      <p:sp>
        <p:nvSpPr>
          <p:cNvPr id="28" name="Text 26"/>
          <p:cNvSpPr/>
          <p:nvPr/>
        </p:nvSpPr>
        <p:spPr>
          <a:xfrm>
            <a:off x="1645920" y="4901184"/>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Fairness-aware retrain by income</a:t>
            </a:r>
            <a:endParaRPr lang="en-US" sz="1400" dirty="0"/>
          </a:p>
        </p:txBody>
      </p:sp>
      <p:sp>
        <p:nvSpPr>
          <p:cNvPr id="29" name="Text 27"/>
          <p:cNvSpPr/>
          <p:nvPr/>
        </p:nvSpPr>
        <p:spPr>
          <a:xfrm>
            <a:off x="1645920" y="5312664"/>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Adversarial debiasing or per-stratum reweighting to drop the 0.161 gap below 0.10.</a:t>
            </a:r>
            <a:endParaRPr lang="en-US" sz="1050" dirty="0"/>
          </a:p>
        </p:txBody>
      </p:sp>
      <p:sp>
        <p:nvSpPr>
          <p:cNvPr id="30" name="Shape 28"/>
          <p:cNvSpPr/>
          <p:nvPr/>
        </p:nvSpPr>
        <p:spPr>
          <a:xfrm>
            <a:off x="6172200" y="4718304"/>
            <a:ext cx="5440680" cy="1417320"/>
          </a:xfrm>
          <a:prstGeom prst="rect">
            <a:avLst/>
          </a:prstGeom>
          <a:solidFill>
            <a:srgbClr val="133E4A"/>
          </a:solidFill>
          <a:ln w="9525">
            <a:solidFill>
              <a:srgbClr val="1F5C6E"/>
            </a:solidFill>
            <a:prstDash val="solid"/>
          </a:ln>
        </p:spPr>
        <p:txBody>
          <a:bodyPr/>
          <a:lstStyle/>
          <a:p>
            <a:endParaRPr lang="en-US" dirty="0"/>
          </a:p>
        </p:txBody>
      </p:sp>
      <p:sp>
        <p:nvSpPr>
          <p:cNvPr id="31" name="Shape 29"/>
          <p:cNvSpPr/>
          <p:nvPr/>
        </p:nvSpPr>
        <p:spPr>
          <a:xfrm>
            <a:off x="6355080" y="4946904"/>
            <a:ext cx="777240" cy="777240"/>
          </a:xfrm>
          <a:prstGeom prst="ellipse">
            <a:avLst/>
          </a:prstGeom>
          <a:solidFill>
            <a:srgbClr val="E2725B"/>
          </a:solidFill>
          <a:ln w="12700">
            <a:solidFill>
              <a:srgbClr val="E2725B"/>
            </a:solidFill>
            <a:prstDash val="solid"/>
          </a:ln>
        </p:spPr>
        <p:txBody>
          <a:bodyPr/>
          <a:lstStyle/>
          <a:p>
            <a:endParaRPr lang="en-US" dirty="0"/>
          </a:p>
        </p:txBody>
      </p:sp>
      <p:sp>
        <p:nvSpPr>
          <p:cNvPr id="32" name="Text 30"/>
          <p:cNvSpPr/>
          <p:nvPr/>
        </p:nvSpPr>
        <p:spPr>
          <a:xfrm>
            <a:off x="6355080" y="4946904"/>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6</a:t>
            </a:r>
            <a:endParaRPr lang="en-US" sz="2800" dirty="0"/>
          </a:p>
        </p:txBody>
      </p:sp>
      <p:sp>
        <p:nvSpPr>
          <p:cNvPr id="33" name="Text 31"/>
          <p:cNvSpPr/>
          <p:nvPr/>
        </p:nvSpPr>
        <p:spPr>
          <a:xfrm>
            <a:off x="7269480" y="4901184"/>
            <a:ext cx="42062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Validate externally on HbA1c records</a:t>
            </a:r>
            <a:endParaRPr lang="en-US" sz="1400" dirty="0"/>
          </a:p>
        </p:txBody>
      </p:sp>
      <p:sp>
        <p:nvSpPr>
          <p:cNvPr id="34" name="Text 32"/>
          <p:cNvSpPr/>
          <p:nvPr/>
        </p:nvSpPr>
        <p:spPr>
          <a:xfrm>
            <a:off x="7269480" y="5312664"/>
            <a:ext cx="4206240" cy="777240"/>
          </a:xfrm>
          <a:prstGeom prst="rect">
            <a:avLst/>
          </a:prstGeom>
          <a:noFill/>
          <a:ln/>
        </p:spPr>
        <p:txBody>
          <a:bodyPr wrap="square" lIns="0" tIns="0" rIns="0" bIns="0" rtlCol="0" anchor="ctr"/>
          <a:lstStyle/>
          <a:p>
            <a:pPr marL="0" indent="0">
              <a:buNone/>
            </a:pPr>
            <a:r>
              <a:rPr lang="en-US" sz="1050" dirty="0">
                <a:solidFill>
                  <a:srgbClr val="F4D6CD"/>
                </a:solidFill>
                <a:latin typeface="Calibri" pitchFamily="34" charset="0"/>
                <a:ea typeface="Calibri" pitchFamily="34" charset="-122"/>
                <a:cs typeface="Calibri" pitchFamily="34" charset="-120"/>
              </a:rPr>
              <a:t>Self-reported BRFSS data alone is insufficient evidence for clinical adoption.</a:t>
            </a:r>
            <a:endParaRPr lang="en-US" sz="1050" dirty="0"/>
          </a:p>
        </p:txBody>
      </p:sp>
      <p:sp>
        <p:nvSpPr>
          <p:cNvPr id="35" name="Shape 33"/>
          <p:cNvSpPr/>
          <p:nvPr/>
        </p:nvSpPr>
        <p:spPr>
          <a:xfrm>
            <a:off x="548640" y="6400800"/>
            <a:ext cx="11064240" cy="0"/>
          </a:xfrm>
          <a:prstGeom prst="line">
            <a:avLst/>
          </a:prstGeom>
          <a:noFill/>
          <a:ln w="12700">
            <a:solidFill>
              <a:srgbClr val="E2725B"/>
            </a:solidFill>
            <a:prstDash val="solid"/>
          </a:ln>
        </p:spPr>
        <p:txBody>
          <a:bodyPr/>
          <a:lstStyle/>
          <a:p>
            <a:endParaRPr lang="en-US" dirty="0"/>
          </a:p>
        </p:txBody>
      </p:sp>
      <p:sp>
        <p:nvSpPr>
          <p:cNvPr id="36" name="Text 34"/>
          <p:cNvSpPr/>
          <p:nvPr/>
        </p:nvSpPr>
        <p:spPr>
          <a:xfrm>
            <a:off x="548640" y="6492240"/>
            <a:ext cx="7315200" cy="320040"/>
          </a:xfrm>
          <a:prstGeom prst="rect">
            <a:avLst/>
          </a:prstGeom>
          <a:noFill/>
          <a:ln/>
        </p:spPr>
        <p:txBody>
          <a:bodyPr wrap="square" lIns="0" tIns="0" rIns="0" bIns="0" rtlCol="0" anchor="ctr"/>
          <a:lstStyle/>
          <a:p>
            <a:pPr marL="0" indent="0">
              <a:buNone/>
            </a:pPr>
            <a:r>
              <a:rPr lang="en-US" sz="1200" i="1" dirty="0">
                <a:solidFill>
                  <a:srgbClr val="F5F2EC"/>
                </a:solidFill>
                <a:latin typeface="Georgia" pitchFamily="34" charset="0"/>
                <a:ea typeface="Georgia" pitchFamily="34" charset="-122"/>
                <a:cs typeface="Georgia" pitchFamily="34" charset="-120"/>
              </a:rPr>
              <a:t>Thank you  •  Questions?</a:t>
            </a:r>
            <a:endParaRPr lang="en-US" sz="1200" dirty="0"/>
          </a:p>
        </p:txBody>
      </p:sp>
      <p:sp>
        <p:nvSpPr>
          <p:cNvPr id="37" name="Text 35"/>
          <p:cNvSpPr/>
          <p:nvPr/>
        </p:nvSpPr>
        <p:spPr>
          <a:xfrm>
            <a:off x="10698480" y="6492240"/>
            <a:ext cx="914400" cy="320040"/>
          </a:xfrm>
          <a:prstGeom prst="rect">
            <a:avLst/>
          </a:prstGeom>
          <a:noFill/>
          <a:ln/>
        </p:spPr>
        <p:txBody>
          <a:bodyPr wrap="square" lIns="0" tIns="0" rIns="0" bIns="0" rtlCol="0" anchor="ctr"/>
          <a:lstStyle/>
          <a:p>
            <a:pPr marL="0" indent="0" algn="r">
              <a:buNone/>
            </a:pPr>
            <a:r>
              <a:rPr lang="en-US" sz="1000" dirty="0">
                <a:solidFill>
                  <a:srgbClr val="F4D6CD"/>
                </a:solidFill>
                <a:latin typeface="Calibri" pitchFamily="34" charset="0"/>
                <a:ea typeface="Calibri" pitchFamily="34" charset="-122"/>
                <a:cs typeface="Calibri" pitchFamily="34" charset="-120"/>
              </a:rPr>
              <a:t>9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1369</TotalTime>
  <Words>2582</Words>
  <Application>Microsoft Office PowerPoint</Application>
  <PresentationFormat>Widescreen</PresentationFormat>
  <Paragraphs>242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Diabetes Risk from Population Health Survey Data</dc:title>
  <dc:subject>PptxGenJS Presentation</dc:subject>
  <dc:creator>Graduate Group Project</dc:creator>
  <cp:lastModifiedBy>Vinamratha R Jagirdar</cp:lastModifiedBy>
  <cp:revision>19</cp:revision>
  <dcterms:created xsi:type="dcterms:W3CDTF">2026-04-26T22:48:51Z</dcterms:created>
  <dcterms:modified xsi:type="dcterms:W3CDTF">2026-05-03T15:24:33Z</dcterms:modified>
</cp:coreProperties>
</file>